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Roboto" panose="02000000000000000000" pitchFamily="2" charset="0"/>
      <p:regular r:id="rId16"/>
    </p:embeddedFont>
    <p:embeddedFont>
      <p:font typeface="Roboto Bold" panose="020000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087100" y="0"/>
            <a:ext cx="7200900" cy="10287000"/>
            <a:chOff x="0" y="0"/>
            <a:chExt cx="96012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06307" y="1538068"/>
            <a:ext cx="7088238" cy="82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Harvestify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2825648"/>
            <a:ext cx="9445523" cy="374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77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An Agricultural Crop Recommendation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919170"/>
            <a:ext cx="9445523" cy="165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Presented by </a:t>
            </a:r>
            <a:r>
              <a:rPr lang="en-US" sz="2200" b="1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Ankit Jaiswal · Anil Yadav · Aryan Patel · Gaurav Singh</a:t>
            </a:r>
          </a:p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Department of Computer Science &amp; Engineering </a:t>
            </a:r>
          </a:p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· KIET Group of Institutions Ghaziabad</a:t>
            </a:r>
          </a:p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Mentor: </a:t>
            </a:r>
            <a:r>
              <a:rPr lang="en-US" sz="2200" b="1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Prof. Pushpendra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087100" y="0"/>
            <a:ext cx="7200900" cy="10287000"/>
            <a:chOff x="0" y="0"/>
            <a:chExt cx="96012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794890"/>
            <a:ext cx="8360121" cy="82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Why Agriculture Needs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2096538"/>
            <a:ext cx="9445523" cy="1229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Agriculture feeds 8 billion people, yet farmers still rely on guesswork for crop selection. </a:t>
            </a:r>
            <a:r>
              <a:rPr lang="en-US" sz="2200" b="1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Harvestify</a:t>
            </a: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bridges this gap — using machine learning to analyze soil and climate data and deliver precise, actionable crop recommendations.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7476" y="4187723"/>
            <a:ext cx="4590459" cy="2909440"/>
            <a:chOff x="0" y="0"/>
            <a:chExt cx="6120613" cy="3879253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6107938" cy="3866515"/>
            </a:xfrm>
            <a:custGeom>
              <a:avLst/>
              <a:gdLst/>
              <a:ahLst/>
              <a:cxnLst/>
              <a:rect l="l" t="t" r="r" b="b"/>
              <a:pathLst>
                <a:path w="6107938" h="3866515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5948934" y="0"/>
                  </a:lnTo>
                  <a:cubicBezTo>
                    <a:pt x="6036691" y="0"/>
                    <a:pt x="6107938" y="71120"/>
                    <a:pt x="6107938" y="158750"/>
                  </a:cubicBezTo>
                  <a:lnTo>
                    <a:pt x="6107938" y="3707765"/>
                  </a:lnTo>
                  <a:cubicBezTo>
                    <a:pt x="6107938" y="3795395"/>
                    <a:pt x="6036818" y="3866515"/>
                    <a:pt x="5948934" y="3866515"/>
                  </a:cubicBezTo>
                  <a:lnTo>
                    <a:pt x="159004" y="3866515"/>
                  </a:lnTo>
                  <a:cubicBezTo>
                    <a:pt x="71120" y="3866515"/>
                    <a:pt x="0" y="3795522"/>
                    <a:pt x="0" y="370776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6120638" cy="3879215"/>
            </a:xfrm>
            <a:custGeom>
              <a:avLst/>
              <a:gdLst/>
              <a:ahLst/>
              <a:cxnLst/>
              <a:rect l="l" t="t" r="r" b="b"/>
              <a:pathLst>
                <a:path w="6120638" h="387921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284" y="0"/>
                  </a:lnTo>
                  <a:lnTo>
                    <a:pt x="5955284" y="6350"/>
                  </a:lnTo>
                  <a:lnTo>
                    <a:pt x="5955284" y="0"/>
                  </a:lnTo>
                  <a:cubicBezTo>
                    <a:pt x="6046597" y="0"/>
                    <a:pt x="6120638" y="73914"/>
                    <a:pt x="6120638" y="165100"/>
                  </a:cubicBezTo>
                  <a:lnTo>
                    <a:pt x="6114288" y="165100"/>
                  </a:lnTo>
                  <a:lnTo>
                    <a:pt x="6120638" y="165100"/>
                  </a:lnTo>
                  <a:lnTo>
                    <a:pt x="6120638" y="3714115"/>
                  </a:lnTo>
                  <a:lnTo>
                    <a:pt x="6114288" y="3714115"/>
                  </a:lnTo>
                  <a:lnTo>
                    <a:pt x="6120638" y="3714115"/>
                  </a:lnTo>
                  <a:cubicBezTo>
                    <a:pt x="6120638" y="3805301"/>
                    <a:pt x="6046597" y="3879215"/>
                    <a:pt x="5955284" y="3879215"/>
                  </a:cubicBezTo>
                  <a:lnTo>
                    <a:pt x="5955284" y="3872865"/>
                  </a:lnTo>
                  <a:lnTo>
                    <a:pt x="5955284" y="3879215"/>
                  </a:lnTo>
                  <a:lnTo>
                    <a:pt x="165354" y="3879215"/>
                  </a:lnTo>
                  <a:lnTo>
                    <a:pt x="165354" y="3872865"/>
                  </a:lnTo>
                  <a:lnTo>
                    <a:pt x="165354" y="3879215"/>
                  </a:lnTo>
                  <a:cubicBezTo>
                    <a:pt x="74041" y="3879215"/>
                    <a:pt x="0" y="3805301"/>
                    <a:pt x="0" y="371411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714115"/>
                  </a:lnTo>
                  <a:lnTo>
                    <a:pt x="6350" y="3714115"/>
                  </a:lnTo>
                  <a:lnTo>
                    <a:pt x="12700" y="3714115"/>
                  </a:lnTo>
                  <a:cubicBezTo>
                    <a:pt x="12700" y="3798316"/>
                    <a:pt x="81026" y="3866515"/>
                    <a:pt x="165354" y="3866515"/>
                  </a:cubicBezTo>
                  <a:lnTo>
                    <a:pt x="5955284" y="3866515"/>
                  </a:lnTo>
                  <a:cubicBezTo>
                    <a:pt x="6039612" y="3866515"/>
                    <a:pt x="6107938" y="3798316"/>
                    <a:pt x="6107938" y="3714115"/>
                  </a:cubicBezTo>
                  <a:lnTo>
                    <a:pt x="6107938" y="165100"/>
                  </a:lnTo>
                  <a:cubicBezTo>
                    <a:pt x="6107938" y="80899"/>
                    <a:pt x="6039612" y="12700"/>
                    <a:pt x="5955284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85284" y="4456957"/>
            <a:ext cx="3544043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The Challenge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284" y="5022352"/>
            <a:ext cx="3994842" cy="165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Climate variability, soil degradation, and poor crop choices drive low yields and farmer uncertainty.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851922" y="4187723"/>
            <a:ext cx="4590602" cy="2909440"/>
            <a:chOff x="0" y="0"/>
            <a:chExt cx="6120803" cy="3879253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6108192" cy="3866515"/>
            </a:xfrm>
            <a:custGeom>
              <a:avLst/>
              <a:gdLst/>
              <a:ahLst/>
              <a:cxnLst/>
              <a:rect l="l" t="t" r="r" b="b"/>
              <a:pathLst>
                <a:path w="6108192" h="3866515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5949188" y="0"/>
                  </a:lnTo>
                  <a:cubicBezTo>
                    <a:pt x="6036945" y="0"/>
                    <a:pt x="6108192" y="71120"/>
                    <a:pt x="6108192" y="158750"/>
                  </a:cubicBezTo>
                  <a:lnTo>
                    <a:pt x="6108192" y="3707765"/>
                  </a:lnTo>
                  <a:cubicBezTo>
                    <a:pt x="6108192" y="3795395"/>
                    <a:pt x="6037072" y="3866515"/>
                    <a:pt x="5949188" y="3866515"/>
                  </a:cubicBezTo>
                  <a:lnTo>
                    <a:pt x="159004" y="3866515"/>
                  </a:lnTo>
                  <a:cubicBezTo>
                    <a:pt x="71120" y="3866515"/>
                    <a:pt x="0" y="3795522"/>
                    <a:pt x="0" y="370776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120892" cy="3879215"/>
            </a:xfrm>
            <a:custGeom>
              <a:avLst/>
              <a:gdLst/>
              <a:ahLst/>
              <a:cxnLst/>
              <a:rect l="l" t="t" r="r" b="b"/>
              <a:pathLst>
                <a:path w="6120892" h="387921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538" y="0"/>
                  </a:lnTo>
                  <a:lnTo>
                    <a:pt x="5955538" y="6350"/>
                  </a:lnTo>
                  <a:lnTo>
                    <a:pt x="5955538" y="0"/>
                  </a:lnTo>
                  <a:cubicBezTo>
                    <a:pt x="6046851" y="0"/>
                    <a:pt x="6120892" y="73914"/>
                    <a:pt x="6120892" y="165100"/>
                  </a:cubicBezTo>
                  <a:lnTo>
                    <a:pt x="6114542" y="165100"/>
                  </a:lnTo>
                  <a:lnTo>
                    <a:pt x="6120892" y="165100"/>
                  </a:lnTo>
                  <a:lnTo>
                    <a:pt x="6120892" y="3714115"/>
                  </a:lnTo>
                  <a:lnTo>
                    <a:pt x="6114542" y="3714115"/>
                  </a:lnTo>
                  <a:lnTo>
                    <a:pt x="6120892" y="3714115"/>
                  </a:lnTo>
                  <a:cubicBezTo>
                    <a:pt x="6120892" y="3805301"/>
                    <a:pt x="6046851" y="3879215"/>
                    <a:pt x="5955538" y="3879215"/>
                  </a:cubicBezTo>
                  <a:lnTo>
                    <a:pt x="5955538" y="3872865"/>
                  </a:lnTo>
                  <a:lnTo>
                    <a:pt x="5955538" y="3879215"/>
                  </a:lnTo>
                  <a:lnTo>
                    <a:pt x="165354" y="3879215"/>
                  </a:lnTo>
                  <a:lnTo>
                    <a:pt x="165354" y="3872865"/>
                  </a:lnTo>
                  <a:lnTo>
                    <a:pt x="165354" y="3879215"/>
                  </a:lnTo>
                  <a:cubicBezTo>
                    <a:pt x="74041" y="3879215"/>
                    <a:pt x="0" y="3805301"/>
                    <a:pt x="0" y="371411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714115"/>
                  </a:lnTo>
                  <a:lnTo>
                    <a:pt x="6350" y="3714115"/>
                  </a:lnTo>
                  <a:lnTo>
                    <a:pt x="12700" y="3714115"/>
                  </a:lnTo>
                  <a:cubicBezTo>
                    <a:pt x="12700" y="3798316"/>
                    <a:pt x="81026" y="3866515"/>
                    <a:pt x="165354" y="3866515"/>
                  </a:cubicBezTo>
                  <a:lnTo>
                    <a:pt x="5955538" y="3866515"/>
                  </a:lnTo>
                  <a:cubicBezTo>
                    <a:pt x="6039866" y="3866515"/>
                    <a:pt x="6108192" y="3798316"/>
                    <a:pt x="6108192" y="3714115"/>
                  </a:cubicBezTo>
                  <a:lnTo>
                    <a:pt x="6108192" y="165100"/>
                  </a:lnTo>
                  <a:cubicBezTo>
                    <a:pt x="6108192" y="80899"/>
                    <a:pt x="6039866" y="12700"/>
                    <a:pt x="595553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6149731" y="4456957"/>
            <a:ext cx="3544043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The Opportunity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49731" y="5022352"/>
            <a:ext cx="3994995" cy="165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AI can analyze complex environmental data to guide smarter, faster, and more profitable farming decisions.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87476" y="7371159"/>
            <a:ext cx="9455048" cy="2059038"/>
            <a:chOff x="0" y="0"/>
            <a:chExt cx="12606731" cy="2745384"/>
          </a:xfrm>
        </p:grpSpPr>
        <p:sp>
          <p:nvSpPr>
            <p:cNvPr id="23" name="Freeform 23"/>
            <p:cNvSpPr/>
            <p:nvPr/>
          </p:nvSpPr>
          <p:spPr>
            <a:xfrm>
              <a:off x="6350" y="6350"/>
              <a:ext cx="12594082" cy="2732659"/>
            </a:xfrm>
            <a:custGeom>
              <a:avLst/>
              <a:gdLst/>
              <a:ahLst/>
              <a:cxnLst/>
              <a:rect l="l" t="t" r="r" b="b"/>
              <a:pathLst>
                <a:path w="12594082" h="2732659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573909"/>
                  </a:lnTo>
                  <a:cubicBezTo>
                    <a:pt x="12594082" y="2661539"/>
                    <a:pt x="12522708" y="2732659"/>
                    <a:pt x="12434697" y="2732659"/>
                  </a:cubicBezTo>
                  <a:lnTo>
                    <a:pt x="159385" y="2732659"/>
                  </a:lnTo>
                  <a:cubicBezTo>
                    <a:pt x="71374" y="2732659"/>
                    <a:pt x="0" y="2661539"/>
                    <a:pt x="0" y="2573909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2606782" cy="2745359"/>
            </a:xfrm>
            <a:custGeom>
              <a:avLst/>
              <a:gdLst/>
              <a:ahLst/>
              <a:cxnLst/>
              <a:rect l="l" t="t" r="r" b="b"/>
              <a:pathLst>
                <a:path w="12606782" h="2745359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441047" y="0"/>
                  </a:lnTo>
                  <a:lnTo>
                    <a:pt x="12441047" y="6350"/>
                  </a:lnTo>
                  <a:lnTo>
                    <a:pt x="12441047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580259"/>
                  </a:lnTo>
                  <a:lnTo>
                    <a:pt x="12600432" y="2580259"/>
                  </a:lnTo>
                  <a:lnTo>
                    <a:pt x="12606782" y="2580259"/>
                  </a:lnTo>
                  <a:cubicBezTo>
                    <a:pt x="12606782" y="2671445"/>
                    <a:pt x="12532614" y="2745359"/>
                    <a:pt x="12441047" y="2745359"/>
                  </a:cubicBezTo>
                  <a:lnTo>
                    <a:pt x="12441047" y="2739009"/>
                  </a:lnTo>
                  <a:lnTo>
                    <a:pt x="12441047" y="2745359"/>
                  </a:lnTo>
                  <a:lnTo>
                    <a:pt x="165735" y="2745359"/>
                  </a:lnTo>
                  <a:lnTo>
                    <a:pt x="165735" y="2739009"/>
                  </a:lnTo>
                  <a:lnTo>
                    <a:pt x="165735" y="2745359"/>
                  </a:lnTo>
                  <a:cubicBezTo>
                    <a:pt x="74295" y="2745359"/>
                    <a:pt x="0" y="2671445"/>
                    <a:pt x="0" y="258025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580259"/>
                  </a:lnTo>
                  <a:lnTo>
                    <a:pt x="6350" y="2580259"/>
                  </a:lnTo>
                  <a:lnTo>
                    <a:pt x="12700" y="2580259"/>
                  </a:lnTo>
                  <a:cubicBezTo>
                    <a:pt x="12700" y="2664460"/>
                    <a:pt x="81153" y="2732659"/>
                    <a:pt x="165735" y="2732659"/>
                  </a:cubicBezTo>
                  <a:lnTo>
                    <a:pt x="12441047" y="2732659"/>
                  </a:lnTo>
                  <a:cubicBezTo>
                    <a:pt x="12525628" y="2732659"/>
                    <a:pt x="12594082" y="2664460"/>
                    <a:pt x="12594082" y="2580259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04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85284" y="7640393"/>
            <a:ext cx="3544043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Our Solution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5284" y="8205788"/>
            <a:ext cx="8859441" cy="8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Harvestify — an ML-powered web app delivering accurate crop recommendations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5804" y="705450"/>
            <a:ext cx="11519887" cy="79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99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The Problem with Traditional Farming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5804" y="2283323"/>
            <a:ext cx="10426894" cy="6951164"/>
            <a:chOff x="0" y="0"/>
            <a:chExt cx="13902525" cy="926821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902562" cy="9268206"/>
            </a:xfrm>
            <a:custGeom>
              <a:avLst/>
              <a:gdLst/>
              <a:ahLst/>
              <a:cxnLst/>
              <a:rect l="l" t="t" r="r" b="b"/>
              <a:pathLst>
                <a:path w="13902562" h="9268206">
                  <a:moveTo>
                    <a:pt x="0" y="0"/>
                  </a:moveTo>
                  <a:lnTo>
                    <a:pt x="13902562" y="0"/>
                  </a:lnTo>
                  <a:lnTo>
                    <a:pt x="13902562" y="9268206"/>
                  </a:lnTo>
                  <a:lnTo>
                    <a:pt x="0" y="9268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2041534" y="2640511"/>
            <a:ext cx="3481388" cy="39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Why Farmers Struggle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41534" y="3301155"/>
            <a:ext cx="5310188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Without data-driven tools, crop selection depends on intuition and tradition — not science. The result: lost productivity, wasted resources, and reduced income.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41534" y="5116411"/>
            <a:ext cx="5310188" cy="354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730" lvl="1" indent="-253365" algn="l">
              <a:lnSpc>
                <a:spcPts val="3099"/>
              </a:lnSpc>
              <a:buFont typeface="Arial"/>
              <a:buChar char="•"/>
            </a:pPr>
            <a:r>
              <a:rPr lang="en-US" sz="2100" b="1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Empirical methods:</a:t>
            </a: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Decisions based on experience, not soil or climate data</a:t>
            </a:r>
          </a:p>
          <a:p>
            <a:pPr marL="506730" lvl="1" indent="-253365" algn="l">
              <a:lnSpc>
                <a:spcPts val="3099"/>
              </a:lnSpc>
              <a:buFont typeface="Arial"/>
              <a:buChar char="•"/>
            </a:pPr>
            <a:r>
              <a:rPr lang="en-US" sz="2100" b="1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Environmental variability:</a:t>
            </a: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Shifting rainfall, temperature, and soil pH make planning unreliable</a:t>
            </a:r>
          </a:p>
          <a:p>
            <a:pPr marL="506730" lvl="1" indent="-253365" algn="l">
              <a:lnSpc>
                <a:spcPts val="3099"/>
              </a:lnSpc>
              <a:buFont typeface="Arial"/>
              <a:buChar char="•"/>
            </a:pPr>
            <a:r>
              <a:rPr lang="en-US" sz="2100" b="1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Low productivity:</a:t>
            </a: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Wrong crop choices directly reduce yield and profitability</a:t>
            </a:r>
          </a:p>
          <a:p>
            <a:pPr marL="506730" lvl="1" indent="-253365" algn="l">
              <a:lnSpc>
                <a:spcPts val="3099"/>
              </a:lnSpc>
              <a:buFont typeface="Arial"/>
              <a:buChar char="•"/>
            </a:pPr>
            <a:r>
              <a:rPr lang="en-US" sz="2100" b="1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No decision support:</a:t>
            </a: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Farmers lack accessible, intelligent tools for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5804" y="768401"/>
            <a:ext cx="6756054" cy="79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99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Project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804" y="2128095"/>
            <a:ext cx="16396392" cy="36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Harvestify is built on five core goals — from raw data to a polished, farmer-friendly interface.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6754" y="3257102"/>
            <a:ext cx="5331914" cy="3208439"/>
            <a:chOff x="0" y="0"/>
            <a:chExt cx="7109219" cy="4277919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7058406" cy="4227195"/>
            </a:xfrm>
            <a:custGeom>
              <a:avLst/>
              <a:gdLst/>
              <a:ahLst/>
              <a:cxnLst/>
              <a:rect l="l" t="t" r="r" b="b"/>
              <a:pathLst>
                <a:path w="7058406" h="4227195">
                  <a:moveTo>
                    <a:pt x="0" y="243840"/>
                  </a:moveTo>
                  <a:cubicBezTo>
                    <a:pt x="0" y="109220"/>
                    <a:pt x="109728" y="0"/>
                    <a:pt x="244983" y="0"/>
                  </a:cubicBezTo>
                  <a:lnTo>
                    <a:pt x="6813423" y="0"/>
                  </a:lnTo>
                  <a:cubicBezTo>
                    <a:pt x="6948678" y="0"/>
                    <a:pt x="7058406" y="109220"/>
                    <a:pt x="7058406" y="243840"/>
                  </a:cubicBezTo>
                  <a:lnTo>
                    <a:pt x="7058406" y="3983355"/>
                  </a:lnTo>
                  <a:cubicBezTo>
                    <a:pt x="7058406" y="4117975"/>
                    <a:pt x="6948678" y="4227195"/>
                    <a:pt x="6813423" y="4227195"/>
                  </a:cubicBezTo>
                  <a:lnTo>
                    <a:pt x="244983" y="4227195"/>
                  </a:lnTo>
                  <a:cubicBezTo>
                    <a:pt x="109728" y="4227195"/>
                    <a:pt x="0" y="4117975"/>
                    <a:pt x="0" y="3983355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109206" cy="4277995"/>
            </a:xfrm>
            <a:custGeom>
              <a:avLst/>
              <a:gdLst/>
              <a:ahLst/>
              <a:cxnLst/>
              <a:rect l="l" t="t" r="r" b="b"/>
              <a:pathLst>
                <a:path w="7109206" h="4277995">
                  <a:moveTo>
                    <a:pt x="0" y="269240"/>
                  </a:moveTo>
                  <a:cubicBezTo>
                    <a:pt x="0" y="120396"/>
                    <a:pt x="121158" y="0"/>
                    <a:pt x="270383" y="0"/>
                  </a:cubicBezTo>
                  <a:lnTo>
                    <a:pt x="6838823" y="0"/>
                  </a:lnTo>
                  <a:lnTo>
                    <a:pt x="6838823" y="25400"/>
                  </a:lnTo>
                  <a:lnTo>
                    <a:pt x="6838823" y="0"/>
                  </a:lnTo>
                  <a:cubicBezTo>
                    <a:pt x="6988048" y="0"/>
                    <a:pt x="7109206" y="120396"/>
                    <a:pt x="7109206" y="269240"/>
                  </a:cubicBezTo>
                  <a:lnTo>
                    <a:pt x="7083806" y="269240"/>
                  </a:lnTo>
                  <a:lnTo>
                    <a:pt x="7109206" y="269240"/>
                  </a:lnTo>
                  <a:lnTo>
                    <a:pt x="7109206" y="4008755"/>
                  </a:lnTo>
                  <a:lnTo>
                    <a:pt x="7083806" y="4008755"/>
                  </a:lnTo>
                  <a:lnTo>
                    <a:pt x="7109206" y="4008755"/>
                  </a:lnTo>
                  <a:cubicBezTo>
                    <a:pt x="7109206" y="4157599"/>
                    <a:pt x="6988048" y="4277995"/>
                    <a:pt x="6838823" y="4277995"/>
                  </a:cubicBezTo>
                  <a:lnTo>
                    <a:pt x="6838823" y="4252595"/>
                  </a:lnTo>
                  <a:lnTo>
                    <a:pt x="6838823" y="4277995"/>
                  </a:lnTo>
                  <a:lnTo>
                    <a:pt x="270383" y="4277995"/>
                  </a:lnTo>
                  <a:lnTo>
                    <a:pt x="270383" y="4252595"/>
                  </a:lnTo>
                  <a:lnTo>
                    <a:pt x="270383" y="4277995"/>
                  </a:lnTo>
                  <a:cubicBezTo>
                    <a:pt x="121158" y="4277868"/>
                    <a:pt x="0" y="4157472"/>
                    <a:pt x="0" y="400875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008755"/>
                  </a:lnTo>
                  <a:lnTo>
                    <a:pt x="25400" y="4008755"/>
                  </a:lnTo>
                  <a:lnTo>
                    <a:pt x="50800" y="4008755"/>
                  </a:lnTo>
                  <a:cubicBezTo>
                    <a:pt x="50800" y="4129278"/>
                    <a:pt x="148971" y="4227195"/>
                    <a:pt x="270383" y="4227195"/>
                  </a:cubicBezTo>
                  <a:lnTo>
                    <a:pt x="6838823" y="4227195"/>
                  </a:lnTo>
                  <a:cubicBezTo>
                    <a:pt x="6960235" y="4227195"/>
                    <a:pt x="7058406" y="4129278"/>
                    <a:pt x="7058406" y="4008755"/>
                  </a:cubicBezTo>
                  <a:lnTo>
                    <a:pt x="7058406" y="269240"/>
                  </a:lnTo>
                  <a:cubicBezTo>
                    <a:pt x="7058406" y="148717"/>
                    <a:pt x="6960235" y="50800"/>
                    <a:pt x="6838823" y="50800"/>
                  </a:cubicBezTo>
                  <a:lnTo>
                    <a:pt x="270383" y="50800"/>
                  </a:lnTo>
                  <a:lnTo>
                    <a:pt x="270383" y="25400"/>
                  </a:lnTo>
                  <a:lnTo>
                    <a:pt x="270383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45804" y="3238052"/>
            <a:ext cx="5293814" cy="152400"/>
            <a:chOff x="0" y="0"/>
            <a:chExt cx="7058419" cy="2032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7058406" cy="203200"/>
            </a:xfrm>
            <a:custGeom>
              <a:avLst/>
              <a:gdLst/>
              <a:ahLst/>
              <a:cxnLst/>
              <a:rect l="l" t="t" r="r" b="b"/>
              <a:pathLst>
                <a:path w="7058406" h="203200">
                  <a:moveTo>
                    <a:pt x="0" y="0"/>
                  </a:moveTo>
                  <a:lnTo>
                    <a:pt x="7058406" y="0"/>
                  </a:lnTo>
                  <a:lnTo>
                    <a:pt x="7058406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" r="-1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187379" y="2870892"/>
            <a:ext cx="810663" cy="810663"/>
            <a:chOff x="0" y="0"/>
            <a:chExt cx="1080884" cy="1080884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0"/>
                  </a:moveTo>
                  <a:lnTo>
                    <a:pt x="1080897" y="0"/>
                  </a:lnTo>
                  <a:lnTo>
                    <a:pt x="1080897" y="1080897"/>
                  </a:lnTo>
                  <a:lnTo>
                    <a:pt x="0" y="108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430562" y="3073594"/>
            <a:ext cx="324145" cy="405260"/>
            <a:chOff x="0" y="0"/>
            <a:chExt cx="432194" cy="5403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2197" cy="540344"/>
            </a:xfrm>
            <a:custGeom>
              <a:avLst/>
              <a:gdLst/>
              <a:ahLst/>
              <a:cxnLst/>
              <a:rect l="l" t="t" r="r" b="b"/>
              <a:pathLst>
                <a:path w="432197" h="540344">
                  <a:moveTo>
                    <a:pt x="0" y="0"/>
                  </a:moveTo>
                  <a:lnTo>
                    <a:pt x="432197" y="0"/>
                  </a:lnTo>
                  <a:lnTo>
                    <a:pt x="432197" y="540344"/>
                  </a:lnTo>
                  <a:lnTo>
                    <a:pt x="0" y="540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09" r="-11040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432194" cy="616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99"/>
                </a:lnSpc>
              </a:pPr>
              <a:r>
                <a:rPr lang="en-US" sz="2499">
                  <a:solidFill>
                    <a:srgbClr val="000000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54023" y="3913584"/>
            <a:ext cx="4677366" cy="39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ML-Powered Recommendations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4023" y="4893469"/>
            <a:ext cx="4677366" cy="11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Predict the optimal crop using soil nutrients, temperature, humidity, pH, and rainfall data.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478038" y="3257102"/>
            <a:ext cx="5331914" cy="3208439"/>
            <a:chOff x="0" y="0"/>
            <a:chExt cx="7109219" cy="4277919"/>
          </a:xfrm>
        </p:grpSpPr>
        <p:sp>
          <p:nvSpPr>
            <p:cNvPr id="21" name="Freeform 21"/>
            <p:cNvSpPr/>
            <p:nvPr/>
          </p:nvSpPr>
          <p:spPr>
            <a:xfrm>
              <a:off x="25400" y="25400"/>
              <a:ext cx="7058406" cy="4227195"/>
            </a:xfrm>
            <a:custGeom>
              <a:avLst/>
              <a:gdLst/>
              <a:ahLst/>
              <a:cxnLst/>
              <a:rect l="l" t="t" r="r" b="b"/>
              <a:pathLst>
                <a:path w="7058406" h="4227195">
                  <a:moveTo>
                    <a:pt x="0" y="243840"/>
                  </a:moveTo>
                  <a:cubicBezTo>
                    <a:pt x="0" y="109220"/>
                    <a:pt x="109728" y="0"/>
                    <a:pt x="244983" y="0"/>
                  </a:cubicBezTo>
                  <a:lnTo>
                    <a:pt x="6813423" y="0"/>
                  </a:lnTo>
                  <a:cubicBezTo>
                    <a:pt x="6948678" y="0"/>
                    <a:pt x="7058406" y="109220"/>
                    <a:pt x="7058406" y="243840"/>
                  </a:cubicBezTo>
                  <a:lnTo>
                    <a:pt x="7058406" y="3983355"/>
                  </a:lnTo>
                  <a:cubicBezTo>
                    <a:pt x="7058406" y="4117975"/>
                    <a:pt x="6948678" y="4227195"/>
                    <a:pt x="6813423" y="4227195"/>
                  </a:cubicBezTo>
                  <a:lnTo>
                    <a:pt x="244983" y="4227195"/>
                  </a:lnTo>
                  <a:cubicBezTo>
                    <a:pt x="109728" y="4227195"/>
                    <a:pt x="0" y="4117975"/>
                    <a:pt x="0" y="3983355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7109206" cy="4277995"/>
            </a:xfrm>
            <a:custGeom>
              <a:avLst/>
              <a:gdLst/>
              <a:ahLst/>
              <a:cxnLst/>
              <a:rect l="l" t="t" r="r" b="b"/>
              <a:pathLst>
                <a:path w="7109206" h="4277995">
                  <a:moveTo>
                    <a:pt x="0" y="269240"/>
                  </a:moveTo>
                  <a:cubicBezTo>
                    <a:pt x="0" y="120396"/>
                    <a:pt x="121158" y="0"/>
                    <a:pt x="270383" y="0"/>
                  </a:cubicBezTo>
                  <a:lnTo>
                    <a:pt x="6838823" y="0"/>
                  </a:lnTo>
                  <a:lnTo>
                    <a:pt x="6838823" y="25400"/>
                  </a:lnTo>
                  <a:lnTo>
                    <a:pt x="6838823" y="0"/>
                  </a:lnTo>
                  <a:cubicBezTo>
                    <a:pt x="6988048" y="0"/>
                    <a:pt x="7109206" y="120396"/>
                    <a:pt x="7109206" y="269240"/>
                  </a:cubicBezTo>
                  <a:lnTo>
                    <a:pt x="7083806" y="269240"/>
                  </a:lnTo>
                  <a:lnTo>
                    <a:pt x="7109206" y="269240"/>
                  </a:lnTo>
                  <a:lnTo>
                    <a:pt x="7109206" y="4008755"/>
                  </a:lnTo>
                  <a:lnTo>
                    <a:pt x="7083806" y="4008755"/>
                  </a:lnTo>
                  <a:lnTo>
                    <a:pt x="7109206" y="4008755"/>
                  </a:lnTo>
                  <a:cubicBezTo>
                    <a:pt x="7109206" y="4157599"/>
                    <a:pt x="6988048" y="4277995"/>
                    <a:pt x="6838823" y="4277995"/>
                  </a:cubicBezTo>
                  <a:lnTo>
                    <a:pt x="6838823" y="4252595"/>
                  </a:lnTo>
                  <a:lnTo>
                    <a:pt x="6838823" y="4277995"/>
                  </a:lnTo>
                  <a:lnTo>
                    <a:pt x="270383" y="4277995"/>
                  </a:lnTo>
                  <a:lnTo>
                    <a:pt x="270383" y="4252595"/>
                  </a:lnTo>
                  <a:lnTo>
                    <a:pt x="270383" y="4277995"/>
                  </a:lnTo>
                  <a:cubicBezTo>
                    <a:pt x="121158" y="4277868"/>
                    <a:pt x="0" y="4157472"/>
                    <a:pt x="0" y="400875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008755"/>
                  </a:lnTo>
                  <a:lnTo>
                    <a:pt x="25400" y="4008755"/>
                  </a:lnTo>
                  <a:lnTo>
                    <a:pt x="50800" y="4008755"/>
                  </a:lnTo>
                  <a:cubicBezTo>
                    <a:pt x="50800" y="4129278"/>
                    <a:pt x="148971" y="4227195"/>
                    <a:pt x="270383" y="4227195"/>
                  </a:cubicBezTo>
                  <a:lnTo>
                    <a:pt x="6838823" y="4227195"/>
                  </a:lnTo>
                  <a:cubicBezTo>
                    <a:pt x="6960235" y="4227195"/>
                    <a:pt x="7058406" y="4129278"/>
                    <a:pt x="7058406" y="4008755"/>
                  </a:cubicBezTo>
                  <a:lnTo>
                    <a:pt x="7058406" y="269240"/>
                  </a:lnTo>
                  <a:cubicBezTo>
                    <a:pt x="7058406" y="148717"/>
                    <a:pt x="6960235" y="50800"/>
                    <a:pt x="6838823" y="50800"/>
                  </a:cubicBezTo>
                  <a:lnTo>
                    <a:pt x="270383" y="50800"/>
                  </a:lnTo>
                  <a:lnTo>
                    <a:pt x="270383" y="25400"/>
                  </a:lnTo>
                  <a:lnTo>
                    <a:pt x="270383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497088" y="3238052"/>
            <a:ext cx="5293814" cy="152400"/>
            <a:chOff x="0" y="0"/>
            <a:chExt cx="7058419" cy="20320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7058406" cy="203200"/>
            </a:xfrm>
            <a:custGeom>
              <a:avLst/>
              <a:gdLst/>
              <a:ahLst/>
              <a:cxnLst/>
              <a:rect l="l" t="t" r="r" b="b"/>
              <a:pathLst>
                <a:path w="7058406" h="203200">
                  <a:moveTo>
                    <a:pt x="0" y="0"/>
                  </a:moveTo>
                  <a:lnTo>
                    <a:pt x="7058406" y="0"/>
                  </a:lnTo>
                  <a:lnTo>
                    <a:pt x="7058406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" r="-19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8738664" y="2870892"/>
            <a:ext cx="810663" cy="810663"/>
            <a:chOff x="0" y="0"/>
            <a:chExt cx="1080884" cy="1080884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0"/>
                  </a:moveTo>
                  <a:lnTo>
                    <a:pt x="1080897" y="0"/>
                  </a:lnTo>
                  <a:lnTo>
                    <a:pt x="1080897" y="1080897"/>
                  </a:lnTo>
                  <a:lnTo>
                    <a:pt x="0" y="108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8981856" y="3073594"/>
            <a:ext cx="324145" cy="405260"/>
            <a:chOff x="0" y="0"/>
            <a:chExt cx="432194" cy="5403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2197" cy="540344"/>
            </a:xfrm>
            <a:custGeom>
              <a:avLst/>
              <a:gdLst/>
              <a:ahLst/>
              <a:cxnLst/>
              <a:rect l="l" t="t" r="r" b="b"/>
              <a:pathLst>
                <a:path w="432197" h="540344">
                  <a:moveTo>
                    <a:pt x="0" y="0"/>
                  </a:moveTo>
                  <a:lnTo>
                    <a:pt x="432197" y="0"/>
                  </a:lnTo>
                  <a:lnTo>
                    <a:pt x="432197" y="540344"/>
                  </a:lnTo>
                  <a:lnTo>
                    <a:pt x="0" y="540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09" r="-11040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432194" cy="616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99"/>
                </a:lnSpc>
              </a:pPr>
              <a:r>
                <a:rPr lang="en-US" sz="2499">
                  <a:solidFill>
                    <a:srgbClr val="000000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2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805317" y="3913584"/>
            <a:ext cx="4659506" cy="39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Boost Agricultural Productivity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05317" y="4471245"/>
            <a:ext cx="4677366" cy="11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Help farmers maximize yield by matching crops to their specific environmental conditions.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029332" y="3257102"/>
            <a:ext cx="5331914" cy="3208439"/>
            <a:chOff x="0" y="0"/>
            <a:chExt cx="7109219" cy="4277919"/>
          </a:xfrm>
        </p:grpSpPr>
        <p:sp>
          <p:nvSpPr>
            <p:cNvPr id="33" name="Freeform 33"/>
            <p:cNvSpPr/>
            <p:nvPr/>
          </p:nvSpPr>
          <p:spPr>
            <a:xfrm>
              <a:off x="25400" y="25400"/>
              <a:ext cx="7058406" cy="4227195"/>
            </a:xfrm>
            <a:custGeom>
              <a:avLst/>
              <a:gdLst/>
              <a:ahLst/>
              <a:cxnLst/>
              <a:rect l="l" t="t" r="r" b="b"/>
              <a:pathLst>
                <a:path w="7058406" h="4227195">
                  <a:moveTo>
                    <a:pt x="0" y="243840"/>
                  </a:moveTo>
                  <a:cubicBezTo>
                    <a:pt x="0" y="109220"/>
                    <a:pt x="109728" y="0"/>
                    <a:pt x="244983" y="0"/>
                  </a:cubicBezTo>
                  <a:lnTo>
                    <a:pt x="6813423" y="0"/>
                  </a:lnTo>
                  <a:cubicBezTo>
                    <a:pt x="6948678" y="0"/>
                    <a:pt x="7058406" y="109220"/>
                    <a:pt x="7058406" y="243840"/>
                  </a:cubicBezTo>
                  <a:lnTo>
                    <a:pt x="7058406" y="3983355"/>
                  </a:lnTo>
                  <a:cubicBezTo>
                    <a:pt x="7058406" y="4117975"/>
                    <a:pt x="6948678" y="4227195"/>
                    <a:pt x="6813423" y="4227195"/>
                  </a:cubicBezTo>
                  <a:lnTo>
                    <a:pt x="244983" y="4227195"/>
                  </a:lnTo>
                  <a:cubicBezTo>
                    <a:pt x="109728" y="4227195"/>
                    <a:pt x="0" y="4117975"/>
                    <a:pt x="0" y="3983355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7109206" cy="4277995"/>
            </a:xfrm>
            <a:custGeom>
              <a:avLst/>
              <a:gdLst/>
              <a:ahLst/>
              <a:cxnLst/>
              <a:rect l="l" t="t" r="r" b="b"/>
              <a:pathLst>
                <a:path w="7109206" h="4277995">
                  <a:moveTo>
                    <a:pt x="0" y="269240"/>
                  </a:moveTo>
                  <a:cubicBezTo>
                    <a:pt x="0" y="120396"/>
                    <a:pt x="121158" y="0"/>
                    <a:pt x="270383" y="0"/>
                  </a:cubicBezTo>
                  <a:lnTo>
                    <a:pt x="6838823" y="0"/>
                  </a:lnTo>
                  <a:lnTo>
                    <a:pt x="6838823" y="25400"/>
                  </a:lnTo>
                  <a:lnTo>
                    <a:pt x="6838823" y="0"/>
                  </a:lnTo>
                  <a:cubicBezTo>
                    <a:pt x="6988048" y="0"/>
                    <a:pt x="7109206" y="120396"/>
                    <a:pt x="7109206" y="269240"/>
                  </a:cubicBezTo>
                  <a:lnTo>
                    <a:pt x="7083806" y="269240"/>
                  </a:lnTo>
                  <a:lnTo>
                    <a:pt x="7109206" y="269240"/>
                  </a:lnTo>
                  <a:lnTo>
                    <a:pt x="7109206" y="4008755"/>
                  </a:lnTo>
                  <a:lnTo>
                    <a:pt x="7083806" y="4008755"/>
                  </a:lnTo>
                  <a:lnTo>
                    <a:pt x="7109206" y="4008755"/>
                  </a:lnTo>
                  <a:cubicBezTo>
                    <a:pt x="7109206" y="4157599"/>
                    <a:pt x="6988048" y="4277995"/>
                    <a:pt x="6838823" y="4277995"/>
                  </a:cubicBezTo>
                  <a:lnTo>
                    <a:pt x="6838823" y="4252595"/>
                  </a:lnTo>
                  <a:lnTo>
                    <a:pt x="6838823" y="4277995"/>
                  </a:lnTo>
                  <a:lnTo>
                    <a:pt x="270383" y="4277995"/>
                  </a:lnTo>
                  <a:lnTo>
                    <a:pt x="270383" y="4252595"/>
                  </a:lnTo>
                  <a:lnTo>
                    <a:pt x="270383" y="4277995"/>
                  </a:lnTo>
                  <a:cubicBezTo>
                    <a:pt x="121158" y="4277868"/>
                    <a:pt x="0" y="4157472"/>
                    <a:pt x="0" y="400875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008755"/>
                  </a:lnTo>
                  <a:lnTo>
                    <a:pt x="25400" y="4008755"/>
                  </a:lnTo>
                  <a:lnTo>
                    <a:pt x="50800" y="4008755"/>
                  </a:lnTo>
                  <a:cubicBezTo>
                    <a:pt x="50800" y="4129278"/>
                    <a:pt x="148971" y="4227195"/>
                    <a:pt x="270383" y="4227195"/>
                  </a:cubicBezTo>
                  <a:lnTo>
                    <a:pt x="6838823" y="4227195"/>
                  </a:lnTo>
                  <a:cubicBezTo>
                    <a:pt x="6960235" y="4227195"/>
                    <a:pt x="7058406" y="4129278"/>
                    <a:pt x="7058406" y="4008755"/>
                  </a:cubicBezTo>
                  <a:lnTo>
                    <a:pt x="7058406" y="269240"/>
                  </a:lnTo>
                  <a:cubicBezTo>
                    <a:pt x="7058406" y="148717"/>
                    <a:pt x="6960235" y="50800"/>
                    <a:pt x="6838823" y="50800"/>
                  </a:cubicBezTo>
                  <a:lnTo>
                    <a:pt x="270383" y="50800"/>
                  </a:lnTo>
                  <a:lnTo>
                    <a:pt x="270383" y="25400"/>
                  </a:lnTo>
                  <a:lnTo>
                    <a:pt x="270383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048382" y="3238052"/>
            <a:ext cx="5293814" cy="152400"/>
            <a:chOff x="0" y="0"/>
            <a:chExt cx="7058419" cy="203200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7058406" cy="203200"/>
            </a:xfrm>
            <a:custGeom>
              <a:avLst/>
              <a:gdLst/>
              <a:ahLst/>
              <a:cxnLst/>
              <a:rect l="l" t="t" r="r" b="b"/>
              <a:pathLst>
                <a:path w="7058406" h="203200">
                  <a:moveTo>
                    <a:pt x="0" y="0"/>
                  </a:moveTo>
                  <a:lnTo>
                    <a:pt x="7058406" y="0"/>
                  </a:lnTo>
                  <a:lnTo>
                    <a:pt x="7058406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" r="-19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4289957" y="2870892"/>
            <a:ext cx="810663" cy="810663"/>
            <a:chOff x="0" y="0"/>
            <a:chExt cx="1080884" cy="1080884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0"/>
                  </a:moveTo>
                  <a:lnTo>
                    <a:pt x="1080897" y="0"/>
                  </a:lnTo>
                  <a:lnTo>
                    <a:pt x="1080897" y="1080897"/>
                  </a:lnTo>
                  <a:lnTo>
                    <a:pt x="0" y="108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4533140" y="3073594"/>
            <a:ext cx="324145" cy="405260"/>
            <a:chOff x="0" y="0"/>
            <a:chExt cx="432194" cy="54034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32197" cy="540344"/>
            </a:xfrm>
            <a:custGeom>
              <a:avLst/>
              <a:gdLst/>
              <a:ahLst/>
              <a:cxnLst/>
              <a:rect l="l" t="t" r="r" b="b"/>
              <a:pathLst>
                <a:path w="432197" h="540344">
                  <a:moveTo>
                    <a:pt x="0" y="0"/>
                  </a:moveTo>
                  <a:lnTo>
                    <a:pt x="432197" y="0"/>
                  </a:lnTo>
                  <a:lnTo>
                    <a:pt x="432197" y="540344"/>
                  </a:lnTo>
                  <a:lnTo>
                    <a:pt x="0" y="540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09" r="-11040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432194" cy="616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99"/>
                </a:lnSpc>
              </a:pPr>
              <a:r>
                <a:rPr lang="en-US" sz="2499">
                  <a:solidFill>
                    <a:srgbClr val="000000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3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2356602" y="3913584"/>
            <a:ext cx="3868341" cy="39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Multi-Parameter Analysis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356602" y="4471245"/>
            <a:ext cx="4677366" cy="11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Process N, P, K, temperature, humidity, pH, and rainfall simultaneously for holistic recommendations.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26754" y="7090172"/>
            <a:ext cx="8107556" cy="2390327"/>
            <a:chOff x="0" y="0"/>
            <a:chExt cx="10810075" cy="3187103"/>
          </a:xfrm>
        </p:grpSpPr>
        <p:sp>
          <p:nvSpPr>
            <p:cNvPr id="45" name="Freeform 45"/>
            <p:cNvSpPr/>
            <p:nvPr/>
          </p:nvSpPr>
          <p:spPr>
            <a:xfrm>
              <a:off x="25400" y="25400"/>
              <a:ext cx="10759313" cy="3136265"/>
            </a:xfrm>
            <a:custGeom>
              <a:avLst/>
              <a:gdLst/>
              <a:ahLst/>
              <a:cxnLst/>
              <a:rect l="l" t="t" r="r" b="b"/>
              <a:pathLst>
                <a:path w="10759313" h="3136265">
                  <a:moveTo>
                    <a:pt x="0" y="243840"/>
                  </a:moveTo>
                  <a:cubicBezTo>
                    <a:pt x="0" y="109220"/>
                    <a:pt x="110363" y="0"/>
                    <a:pt x="246634" y="0"/>
                  </a:cubicBezTo>
                  <a:lnTo>
                    <a:pt x="10512679" y="0"/>
                  </a:lnTo>
                  <a:cubicBezTo>
                    <a:pt x="10648950" y="0"/>
                    <a:pt x="10759313" y="109220"/>
                    <a:pt x="10759313" y="243840"/>
                  </a:cubicBezTo>
                  <a:lnTo>
                    <a:pt x="10759313" y="2892425"/>
                  </a:lnTo>
                  <a:cubicBezTo>
                    <a:pt x="10759313" y="3027045"/>
                    <a:pt x="10648950" y="3136265"/>
                    <a:pt x="10512679" y="3136265"/>
                  </a:cubicBezTo>
                  <a:lnTo>
                    <a:pt x="246634" y="3136265"/>
                  </a:lnTo>
                  <a:cubicBezTo>
                    <a:pt x="110363" y="3136265"/>
                    <a:pt x="0" y="3027045"/>
                    <a:pt x="0" y="2892425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0810113" cy="3187065"/>
            </a:xfrm>
            <a:custGeom>
              <a:avLst/>
              <a:gdLst/>
              <a:ahLst/>
              <a:cxnLst/>
              <a:rect l="l" t="t" r="r" b="b"/>
              <a:pathLst>
                <a:path w="10810113" h="3187065">
                  <a:moveTo>
                    <a:pt x="0" y="269240"/>
                  </a:moveTo>
                  <a:cubicBezTo>
                    <a:pt x="0" y="120269"/>
                    <a:pt x="122047" y="0"/>
                    <a:pt x="272034" y="0"/>
                  </a:cubicBezTo>
                  <a:lnTo>
                    <a:pt x="10538079" y="0"/>
                  </a:lnTo>
                  <a:lnTo>
                    <a:pt x="10538079" y="25400"/>
                  </a:lnTo>
                  <a:lnTo>
                    <a:pt x="10538079" y="0"/>
                  </a:lnTo>
                  <a:cubicBezTo>
                    <a:pt x="10688066" y="0"/>
                    <a:pt x="10810113" y="120269"/>
                    <a:pt x="10810113" y="269240"/>
                  </a:cubicBezTo>
                  <a:lnTo>
                    <a:pt x="10784713" y="269240"/>
                  </a:lnTo>
                  <a:lnTo>
                    <a:pt x="10810113" y="269240"/>
                  </a:lnTo>
                  <a:lnTo>
                    <a:pt x="10810113" y="2917825"/>
                  </a:lnTo>
                  <a:lnTo>
                    <a:pt x="10784713" y="2917825"/>
                  </a:lnTo>
                  <a:lnTo>
                    <a:pt x="10810113" y="2917825"/>
                  </a:lnTo>
                  <a:cubicBezTo>
                    <a:pt x="10810113" y="3066796"/>
                    <a:pt x="10688066" y="3187065"/>
                    <a:pt x="10538079" y="3187065"/>
                  </a:cubicBezTo>
                  <a:lnTo>
                    <a:pt x="10538079" y="3161665"/>
                  </a:lnTo>
                  <a:lnTo>
                    <a:pt x="10538079" y="3187065"/>
                  </a:lnTo>
                  <a:lnTo>
                    <a:pt x="272034" y="3187065"/>
                  </a:lnTo>
                  <a:lnTo>
                    <a:pt x="272034" y="3161665"/>
                  </a:lnTo>
                  <a:lnTo>
                    <a:pt x="272034" y="3187065"/>
                  </a:lnTo>
                  <a:cubicBezTo>
                    <a:pt x="122047" y="3187065"/>
                    <a:pt x="0" y="3066796"/>
                    <a:pt x="0" y="291782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917825"/>
                  </a:lnTo>
                  <a:lnTo>
                    <a:pt x="25400" y="2917825"/>
                  </a:lnTo>
                  <a:lnTo>
                    <a:pt x="50800" y="2917825"/>
                  </a:lnTo>
                  <a:cubicBezTo>
                    <a:pt x="50800" y="3038221"/>
                    <a:pt x="149606" y="3136265"/>
                    <a:pt x="272034" y="3136265"/>
                  </a:cubicBezTo>
                  <a:lnTo>
                    <a:pt x="10538079" y="3136265"/>
                  </a:lnTo>
                  <a:cubicBezTo>
                    <a:pt x="10660507" y="3136265"/>
                    <a:pt x="10759313" y="3038221"/>
                    <a:pt x="10759313" y="2917825"/>
                  </a:cubicBezTo>
                  <a:lnTo>
                    <a:pt x="10759313" y="269240"/>
                  </a:lnTo>
                  <a:cubicBezTo>
                    <a:pt x="10759313" y="148844"/>
                    <a:pt x="10660507" y="50800"/>
                    <a:pt x="10538079" y="50800"/>
                  </a:cubicBezTo>
                  <a:lnTo>
                    <a:pt x="272034" y="50800"/>
                  </a:lnTo>
                  <a:lnTo>
                    <a:pt x="272034" y="25400"/>
                  </a:lnTo>
                  <a:lnTo>
                    <a:pt x="272034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945804" y="7071122"/>
            <a:ext cx="8069456" cy="152400"/>
            <a:chOff x="0" y="0"/>
            <a:chExt cx="10759275" cy="203200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10759313" cy="203200"/>
            </a:xfrm>
            <a:custGeom>
              <a:avLst/>
              <a:gdLst/>
              <a:ahLst/>
              <a:cxnLst/>
              <a:rect l="l" t="t" r="r" b="b"/>
              <a:pathLst>
                <a:path w="10759313" h="203200">
                  <a:moveTo>
                    <a:pt x="0" y="0"/>
                  </a:moveTo>
                  <a:lnTo>
                    <a:pt x="10759313" y="0"/>
                  </a:lnTo>
                  <a:lnTo>
                    <a:pt x="10759313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" b="-12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4575200" y="6703962"/>
            <a:ext cx="810663" cy="810663"/>
            <a:chOff x="0" y="0"/>
            <a:chExt cx="1080884" cy="1080884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0"/>
                  </a:moveTo>
                  <a:lnTo>
                    <a:pt x="1080897" y="0"/>
                  </a:lnTo>
                  <a:lnTo>
                    <a:pt x="1080897" y="1080897"/>
                  </a:lnTo>
                  <a:lnTo>
                    <a:pt x="0" y="108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4818383" y="6906663"/>
            <a:ext cx="324145" cy="405260"/>
            <a:chOff x="0" y="0"/>
            <a:chExt cx="432194" cy="54034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32197" cy="540344"/>
            </a:xfrm>
            <a:custGeom>
              <a:avLst/>
              <a:gdLst/>
              <a:ahLst/>
              <a:cxnLst/>
              <a:rect l="l" t="t" r="r" b="b"/>
              <a:pathLst>
                <a:path w="432197" h="540344">
                  <a:moveTo>
                    <a:pt x="0" y="0"/>
                  </a:moveTo>
                  <a:lnTo>
                    <a:pt x="432197" y="0"/>
                  </a:lnTo>
                  <a:lnTo>
                    <a:pt x="432197" y="540344"/>
                  </a:lnTo>
                  <a:lnTo>
                    <a:pt x="0" y="540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09" r="-110408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76200"/>
              <a:ext cx="432194" cy="616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99"/>
                </a:lnSpc>
              </a:pPr>
              <a:r>
                <a:rPr lang="en-US" sz="2499">
                  <a:solidFill>
                    <a:srgbClr val="000000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4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54023" y="7746654"/>
            <a:ext cx="4257380" cy="39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Fast &amp; Accurate Predictions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54023" y="8304314"/>
            <a:ext cx="7453017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Deliver real-time results with high confidence using an optimized ML pipeline.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9253690" y="7090172"/>
            <a:ext cx="8107556" cy="2390327"/>
            <a:chOff x="0" y="0"/>
            <a:chExt cx="10810075" cy="3187103"/>
          </a:xfrm>
        </p:grpSpPr>
        <p:sp>
          <p:nvSpPr>
            <p:cNvPr id="57" name="Freeform 57"/>
            <p:cNvSpPr/>
            <p:nvPr/>
          </p:nvSpPr>
          <p:spPr>
            <a:xfrm>
              <a:off x="25400" y="25400"/>
              <a:ext cx="10759313" cy="3136265"/>
            </a:xfrm>
            <a:custGeom>
              <a:avLst/>
              <a:gdLst/>
              <a:ahLst/>
              <a:cxnLst/>
              <a:rect l="l" t="t" r="r" b="b"/>
              <a:pathLst>
                <a:path w="10759313" h="3136265">
                  <a:moveTo>
                    <a:pt x="0" y="243840"/>
                  </a:moveTo>
                  <a:cubicBezTo>
                    <a:pt x="0" y="109220"/>
                    <a:pt x="110363" y="0"/>
                    <a:pt x="246634" y="0"/>
                  </a:cubicBezTo>
                  <a:lnTo>
                    <a:pt x="10512679" y="0"/>
                  </a:lnTo>
                  <a:cubicBezTo>
                    <a:pt x="10648950" y="0"/>
                    <a:pt x="10759313" y="109220"/>
                    <a:pt x="10759313" y="243840"/>
                  </a:cubicBezTo>
                  <a:lnTo>
                    <a:pt x="10759313" y="2892425"/>
                  </a:lnTo>
                  <a:cubicBezTo>
                    <a:pt x="10759313" y="3027045"/>
                    <a:pt x="10648950" y="3136265"/>
                    <a:pt x="10512679" y="3136265"/>
                  </a:cubicBezTo>
                  <a:lnTo>
                    <a:pt x="246634" y="3136265"/>
                  </a:lnTo>
                  <a:cubicBezTo>
                    <a:pt x="110363" y="3136265"/>
                    <a:pt x="0" y="3027045"/>
                    <a:pt x="0" y="2892425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0810113" cy="3187065"/>
            </a:xfrm>
            <a:custGeom>
              <a:avLst/>
              <a:gdLst/>
              <a:ahLst/>
              <a:cxnLst/>
              <a:rect l="l" t="t" r="r" b="b"/>
              <a:pathLst>
                <a:path w="10810113" h="3187065">
                  <a:moveTo>
                    <a:pt x="0" y="269240"/>
                  </a:moveTo>
                  <a:cubicBezTo>
                    <a:pt x="0" y="120269"/>
                    <a:pt x="122047" y="0"/>
                    <a:pt x="272034" y="0"/>
                  </a:cubicBezTo>
                  <a:lnTo>
                    <a:pt x="10538079" y="0"/>
                  </a:lnTo>
                  <a:lnTo>
                    <a:pt x="10538079" y="25400"/>
                  </a:lnTo>
                  <a:lnTo>
                    <a:pt x="10538079" y="0"/>
                  </a:lnTo>
                  <a:cubicBezTo>
                    <a:pt x="10688066" y="0"/>
                    <a:pt x="10810113" y="120269"/>
                    <a:pt x="10810113" y="269240"/>
                  </a:cubicBezTo>
                  <a:lnTo>
                    <a:pt x="10784713" y="269240"/>
                  </a:lnTo>
                  <a:lnTo>
                    <a:pt x="10810113" y="269240"/>
                  </a:lnTo>
                  <a:lnTo>
                    <a:pt x="10810113" y="2917825"/>
                  </a:lnTo>
                  <a:lnTo>
                    <a:pt x="10784713" y="2917825"/>
                  </a:lnTo>
                  <a:lnTo>
                    <a:pt x="10810113" y="2917825"/>
                  </a:lnTo>
                  <a:cubicBezTo>
                    <a:pt x="10810113" y="3066796"/>
                    <a:pt x="10688066" y="3187065"/>
                    <a:pt x="10538079" y="3187065"/>
                  </a:cubicBezTo>
                  <a:lnTo>
                    <a:pt x="10538079" y="3161665"/>
                  </a:lnTo>
                  <a:lnTo>
                    <a:pt x="10538079" y="3187065"/>
                  </a:lnTo>
                  <a:lnTo>
                    <a:pt x="272034" y="3187065"/>
                  </a:lnTo>
                  <a:lnTo>
                    <a:pt x="272034" y="3161665"/>
                  </a:lnTo>
                  <a:lnTo>
                    <a:pt x="272034" y="3187065"/>
                  </a:lnTo>
                  <a:cubicBezTo>
                    <a:pt x="122047" y="3187065"/>
                    <a:pt x="0" y="3066796"/>
                    <a:pt x="0" y="2917825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917825"/>
                  </a:lnTo>
                  <a:lnTo>
                    <a:pt x="25400" y="2917825"/>
                  </a:lnTo>
                  <a:lnTo>
                    <a:pt x="50800" y="2917825"/>
                  </a:lnTo>
                  <a:cubicBezTo>
                    <a:pt x="50800" y="3038221"/>
                    <a:pt x="149606" y="3136265"/>
                    <a:pt x="272034" y="3136265"/>
                  </a:cubicBezTo>
                  <a:lnTo>
                    <a:pt x="10538079" y="3136265"/>
                  </a:lnTo>
                  <a:cubicBezTo>
                    <a:pt x="10660507" y="3136265"/>
                    <a:pt x="10759313" y="3038221"/>
                    <a:pt x="10759313" y="2917825"/>
                  </a:cubicBezTo>
                  <a:lnTo>
                    <a:pt x="10759313" y="269240"/>
                  </a:lnTo>
                  <a:cubicBezTo>
                    <a:pt x="10759313" y="148844"/>
                    <a:pt x="10660507" y="50800"/>
                    <a:pt x="10538079" y="50800"/>
                  </a:cubicBezTo>
                  <a:lnTo>
                    <a:pt x="272034" y="50800"/>
                  </a:lnTo>
                  <a:lnTo>
                    <a:pt x="272034" y="25400"/>
                  </a:lnTo>
                  <a:lnTo>
                    <a:pt x="272034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272740" y="7071122"/>
            <a:ext cx="8069456" cy="152400"/>
            <a:chOff x="0" y="0"/>
            <a:chExt cx="10759275" cy="203200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10759313" cy="203200"/>
            </a:xfrm>
            <a:custGeom>
              <a:avLst/>
              <a:gdLst/>
              <a:ahLst/>
              <a:cxnLst/>
              <a:rect l="l" t="t" r="r" b="b"/>
              <a:pathLst>
                <a:path w="10759313" h="203200">
                  <a:moveTo>
                    <a:pt x="0" y="0"/>
                  </a:moveTo>
                  <a:lnTo>
                    <a:pt x="10759313" y="0"/>
                  </a:lnTo>
                  <a:lnTo>
                    <a:pt x="10759313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" b="-12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2902136" y="6703962"/>
            <a:ext cx="810663" cy="810663"/>
            <a:chOff x="0" y="0"/>
            <a:chExt cx="1080884" cy="1080884"/>
          </a:xfrm>
        </p:grpSpPr>
        <p:sp>
          <p:nvSpPr>
            <p:cNvPr id="62" name="Freeform 62" descr="preencoded.png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0"/>
                  </a:moveTo>
                  <a:lnTo>
                    <a:pt x="1080897" y="0"/>
                  </a:lnTo>
                  <a:lnTo>
                    <a:pt x="1080897" y="1080897"/>
                  </a:lnTo>
                  <a:lnTo>
                    <a:pt x="0" y="108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13145319" y="6906663"/>
            <a:ext cx="324145" cy="405260"/>
            <a:chOff x="0" y="0"/>
            <a:chExt cx="432194" cy="540347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32197" cy="540344"/>
            </a:xfrm>
            <a:custGeom>
              <a:avLst/>
              <a:gdLst/>
              <a:ahLst/>
              <a:cxnLst/>
              <a:rect l="l" t="t" r="r" b="b"/>
              <a:pathLst>
                <a:path w="432197" h="540344">
                  <a:moveTo>
                    <a:pt x="0" y="0"/>
                  </a:moveTo>
                  <a:lnTo>
                    <a:pt x="432197" y="0"/>
                  </a:lnTo>
                  <a:lnTo>
                    <a:pt x="432197" y="540344"/>
                  </a:lnTo>
                  <a:lnTo>
                    <a:pt x="0" y="540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409" r="-110408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76200"/>
              <a:ext cx="432194" cy="616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99"/>
                </a:lnSpc>
              </a:pPr>
              <a:r>
                <a:rPr lang="en-US" sz="2499">
                  <a:solidFill>
                    <a:srgbClr val="000000"/>
                  </a:solidFill>
                  <a:latin typeface="Times New Roman" panose="02020603050405020304" pitchFamily="18" charset="0"/>
                  <a:ea typeface="Arimo"/>
                  <a:cs typeface="Times New Roman" panose="02020603050405020304" pitchFamily="18" charset="0"/>
                  <a:sym typeface="Arimo"/>
                </a:rPr>
                <a:t>5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9580959" y="7746654"/>
            <a:ext cx="4705502" cy="39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6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User-Friendly Web Application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580959" y="8304314"/>
            <a:ext cx="7453017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1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 clean React + TypeScript interface accessible to farmers and agronomists alike.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6200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43283" y="604247"/>
            <a:ext cx="8720290" cy="68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46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System Architecture &amp; Workflow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3283" y="1774479"/>
            <a:ext cx="16201282" cy="6998046"/>
            <a:chOff x="0" y="0"/>
            <a:chExt cx="21601709" cy="933072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1601685" cy="9330690"/>
            </a:xfrm>
            <a:custGeom>
              <a:avLst/>
              <a:gdLst/>
              <a:ahLst/>
              <a:cxnLst/>
              <a:rect l="l" t="t" r="r" b="b"/>
              <a:pathLst>
                <a:path w="21601685" h="9330690">
                  <a:moveTo>
                    <a:pt x="0" y="0"/>
                  </a:moveTo>
                  <a:lnTo>
                    <a:pt x="21601685" y="0"/>
                  </a:lnTo>
                  <a:lnTo>
                    <a:pt x="21601685" y="9330690"/>
                  </a:lnTo>
                  <a:lnTo>
                    <a:pt x="0" y="9330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7" b="-1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909328" y="6468313"/>
            <a:ext cx="2405596" cy="84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Data Preprocessing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09328" y="7507310"/>
            <a:ext cx="2405596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Clean, normalize, encode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86290" y="6906454"/>
            <a:ext cx="2405596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7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Prediction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86290" y="7507310"/>
            <a:ext cx="2405596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Run inference on user input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28514" y="2377364"/>
            <a:ext cx="2405596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Data Collection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28514" y="3416351"/>
            <a:ext cx="2405596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Gather soil and climate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68400" y="2377364"/>
            <a:ext cx="2819400" cy="841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700" dirty="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Crop Recommendation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75340" y="3854491"/>
            <a:ext cx="2405596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Display optimal crop with confidence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36147" y="2377364"/>
            <a:ext cx="2405596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7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Model Training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36147" y="2978220"/>
            <a:ext cx="2405596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Train RF, SVM, KNN, LightGBM, XGBoost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283" y="8953052"/>
            <a:ext cx="16201282" cy="61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The end-to-end pipeline transforms raw agricultural inputs into a reliable crop recommendation in seconds. The frontend (React + TypeScript) communicates with a FastAPI backend, which orchestrates the ML model ensemble and returns structured predictions to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571750" y="554679"/>
            <a:ext cx="5334000" cy="55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37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Dataset &amp; Input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8811" y="3105293"/>
            <a:ext cx="7912875" cy="1970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Sourced from the </a:t>
            </a: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Kaggle Crop Recommendation Dataset</a:t>
            </a: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, </a:t>
            </a:r>
            <a:r>
              <a:rPr lang="en-US" sz="2200" dirty="0" err="1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Harvestify's</a:t>
            </a: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training data covers </a:t>
            </a: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2,200+ samples</a:t>
            </a: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across </a:t>
            </a:r>
            <a:r>
              <a:rPr lang="en-US" sz="2200" b="1" dirty="0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22 crop classes</a:t>
            </a: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— ensuring robust generalization across diverse agricultural conditions.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85849" y="1533525"/>
            <a:ext cx="6339926" cy="6339926"/>
            <a:chOff x="0" y="0"/>
            <a:chExt cx="8453234" cy="845323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453247" cy="8453247"/>
            </a:xfrm>
            <a:custGeom>
              <a:avLst/>
              <a:gdLst/>
              <a:ahLst/>
              <a:cxnLst/>
              <a:rect l="l" t="t" r="r" b="b"/>
              <a:pathLst>
                <a:path w="8453247" h="8453247">
                  <a:moveTo>
                    <a:pt x="0" y="0"/>
                  </a:moveTo>
                  <a:lnTo>
                    <a:pt x="8453247" y="0"/>
                  </a:lnTo>
                  <a:lnTo>
                    <a:pt x="8453247" y="8453247"/>
                  </a:lnTo>
                  <a:lnTo>
                    <a:pt x="0" y="8453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385849" y="1533525"/>
            <a:ext cx="6339926" cy="6339926"/>
            <a:chOff x="0" y="0"/>
            <a:chExt cx="8453234" cy="8453234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453247" cy="8453247"/>
            </a:xfrm>
            <a:custGeom>
              <a:avLst/>
              <a:gdLst/>
              <a:ahLst/>
              <a:cxnLst/>
              <a:rect l="l" t="t" r="r" b="b"/>
              <a:pathLst>
                <a:path w="8453247" h="8453247">
                  <a:moveTo>
                    <a:pt x="0" y="0"/>
                  </a:moveTo>
                  <a:lnTo>
                    <a:pt x="8453247" y="0"/>
                  </a:lnTo>
                  <a:lnTo>
                    <a:pt x="8453247" y="8453247"/>
                  </a:lnTo>
                  <a:lnTo>
                    <a:pt x="0" y="8453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566988" y="8156524"/>
            <a:ext cx="3199657" cy="707231"/>
            <a:chOff x="0" y="0"/>
            <a:chExt cx="4266209" cy="942975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4253484" cy="930275"/>
            </a:xfrm>
            <a:custGeom>
              <a:avLst/>
              <a:gdLst/>
              <a:ahLst/>
              <a:cxnLst/>
              <a:rect l="l" t="t" r="r" b="b"/>
              <a:pathLst>
                <a:path w="4253484" h="930275">
                  <a:moveTo>
                    <a:pt x="0" y="106680"/>
                  </a:moveTo>
                  <a:cubicBezTo>
                    <a:pt x="0" y="47752"/>
                    <a:pt x="48260" y="0"/>
                    <a:pt x="107823" y="0"/>
                  </a:cubicBezTo>
                  <a:lnTo>
                    <a:pt x="4145661" y="0"/>
                  </a:lnTo>
                  <a:cubicBezTo>
                    <a:pt x="4205224" y="0"/>
                    <a:pt x="4253484" y="47752"/>
                    <a:pt x="4253484" y="106680"/>
                  </a:cubicBezTo>
                  <a:lnTo>
                    <a:pt x="4253484" y="823595"/>
                  </a:lnTo>
                  <a:cubicBezTo>
                    <a:pt x="4253484" y="882523"/>
                    <a:pt x="4205224" y="930275"/>
                    <a:pt x="4145661" y="930275"/>
                  </a:cubicBezTo>
                  <a:lnTo>
                    <a:pt x="107823" y="930275"/>
                  </a:lnTo>
                  <a:cubicBezTo>
                    <a:pt x="48260" y="930275"/>
                    <a:pt x="0" y="882523"/>
                    <a:pt x="0" y="82359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266184" cy="942975"/>
            </a:xfrm>
            <a:custGeom>
              <a:avLst/>
              <a:gdLst/>
              <a:ahLst/>
              <a:cxnLst/>
              <a:rect l="l" t="t" r="r" b="b"/>
              <a:pathLst>
                <a:path w="4266184" h="942975">
                  <a:moveTo>
                    <a:pt x="0" y="113030"/>
                  </a:moveTo>
                  <a:cubicBezTo>
                    <a:pt x="0" y="50546"/>
                    <a:pt x="51181" y="0"/>
                    <a:pt x="114173" y="0"/>
                  </a:cubicBezTo>
                  <a:lnTo>
                    <a:pt x="4152011" y="0"/>
                  </a:lnTo>
                  <a:lnTo>
                    <a:pt x="4152011" y="6350"/>
                  </a:lnTo>
                  <a:lnTo>
                    <a:pt x="4152011" y="0"/>
                  </a:lnTo>
                  <a:cubicBezTo>
                    <a:pt x="4215003" y="0"/>
                    <a:pt x="4266184" y="50546"/>
                    <a:pt x="4266184" y="113030"/>
                  </a:cubicBezTo>
                  <a:lnTo>
                    <a:pt x="4259834" y="113030"/>
                  </a:lnTo>
                  <a:lnTo>
                    <a:pt x="4266184" y="113030"/>
                  </a:lnTo>
                  <a:lnTo>
                    <a:pt x="4266184" y="829945"/>
                  </a:lnTo>
                  <a:lnTo>
                    <a:pt x="4259834" y="829945"/>
                  </a:lnTo>
                  <a:lnTo>
                    <a:pt x="4266184" y="829945"/>
                  </a:lnTo>
                  <a:cubicBezTo>
                    <a:pt x="4266184" y="892429"/>
                    <a:pt x="4215003" y="942975"/>
                    <a:pt x="4152011" y="942975"/>
                  </a:cubicBezTo>
                  <a:lnTo>
                    <a:pt x="4152011" y="936625"/>
                  </a:lnTo>
                  <a:lnTo>
                    <a:pt x="4152011" y="942975"/>
                  </a:lnTo>
                  <a:lnTo>
                    <a:pt x="114173" y="942975"/>
                  </a:lnTo>
                  <a:lnTo>
                    <a:pt x="114173" y="936625"/>
                  </a:lnTo>
                  <a:lnTo>
                    <a:pt x="114173" y="942975"/>
                  </a:lnTo>
                  <a:cubicBezTo>
                    <a:pt x="51181" y="942975"/>
                    <a:pt x="0" y="892429"/>
                    <a:pt x="0" y="829945"/>
                  </a:cubicBezTo>
                  <a:lnTo>
                    <a:pt x="0" y="113030"/>
                  </a:lnTo>
                  <a:lnTo>
                    <a:pt x="6350" y="113030"/>
                  </a:lnTo>
                  <a:lnTo>
                    <a:pt x="0" y="113030"/>
                  </a:lnTo>
                  <a:moveTo>
                    <a:pt x="12700" y="113030"/>
                  </a:moveTo>
                  <a:lnTo>
                    <a:pt x="12700" y="829945"/>
                  </a:lnTo>
                  <a:lnTo>
                    <a:pt x="6350" y="829945"/>
                  </a:lnTo>
                  <a:lnTo>
                    <a:pt x="12700" y="829945"/>
                  </a:lnTo>
                  <a:cubicBezTo>
                    <a:pt x="12700" y="885317"/>
                    <a:pt x="58039" y="930275"/>
                    <a:pt x="114173" y="930275"/>
                  </a:cubicBezTo>
                  <a:lnTo>
                    <a:pt x="4152011" y="930275"/>
                  </a:lnTo>
                  <a:cubicBezTo>
                    <a:pt x="4208145" y="930275"/>
                    <a:pt x="4253484" y="885317"/>
                    <a:pt x="4253484" y="829945"/>
                  </a:cubicBezTo>
                  <a:lnTo>
                    <a:pt x="4253484" y="113030"/>
                  </a:lnTo>
                  <a:cubicBezTo>
                    <a:pt x="4253484" y="57658"/>
                    <a:pt x="4208145" y="12700"/>
                    <a:pt x="4152011" y="12700"/>
                  </a:cubicBezTo>
                  <a:lnTo>
                    <a:pt x="114173" y="12700"/>
                  </a:lnTo>
                  <a:lnTo>
                    <a:pt x="114173" y="6350"/>
                  </a:lnTo>
                  <a:lnTo>
                    <a:pt x="114173" y="12700"/>
                  </a:lnTo>
                  <a:cubicBezTo>
                    <a:pt x="58039" y="12700"/>
                    <a:pt x="12700" y="57658"/>
                    <a:pt x="12700" y="1130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2771775" y="8323212"/>
            <a:ext cx="2381250" cy="27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Nitrogen (N)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885107" y="8156524"/>
            <a:ext cx="3199657" cy="707231"/>
            <a:chOff x="0" y="0"/>
            <a:chExt cx="4266209" cy="942975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4253484" cy="930275"/>
            </a:xfrm>
            <a:custGeom>
              <a:avLst/>
              <a:gdLst/>
              <a:ahLst/>
              <a:cxnLst/>
              <a:rect l="l" t="t" r="r" b="b"/>
              <a:pathLst>
                <a:path w="4253484" h="930275">
                  <a:moveTo>
                    <a:pt x="0" y="106680"/>
                  </a:moveTo>
                  <a:cubicBezTo>
                    <a:pt x="0" y="47752"/>
                    <a:pt x="48260" y="0"/>
                    <a:pt x="107823" y="0"/>
                  </a:cubicBezTo>
                  <a:lnTo>
                    <a:pt x="4145661" y="0"/>
                  </a:lnTo>
                  <a:cubicBezTo>
                    <a:pt x="4205224" y="0"/>
                    <a:pt x="4253484" y="47752"/>
                    <a:pt x="4253484" y="106680"/>
                  </a:cubicBezTo>
                  <a:lnTo>
                    <a:pt x="4253484" y="823595"/>
                  </a:lnTo>
                  <a:cubicBezTo>
                    <a:pt x="4253484" y="882523"/>
                    <a:pt x="4205224" y="930275"/>
                    <a:pt x="4145661" y="930275"/>
                  </a:cubicBezTo>
                  <a:lnTo>
                    <a:pt x="107823" y="930275"/>
                  </a:lnTo>
                  <a:cubicBezTo>
                    <a:pt x="48260" y="930275"/>
                    <a:pt x="0" y="882523"/>
                    <a:pt x="0" y="82359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266184" cy="942975"/>
            </a:xfrm>
            <a:custGeom>
              <a:avLst/>
              <a:gdLst/>
              <a:ahLst/>
              <a:cxnLst/>
              <a:rect l="l" t="t" r="r" b="b"/>
              <a:pathLst>
                <a:path w="4266184" h="942975">
                  <a:moveTo>
                    <a:pt x="0" y="113030"/>
                  </a:moveTo>
                  <a:cubicBezTo>
                    <a:pt x="0" y="50546"/>
                    <a:pt x="51181" y="0"/>
                    <a:pt x="114173" y="0"/>
                  </a:cubicBezTo>
                  <a:lnTo>
                    <a:pt x="4152011" y="0"/>
                  </a:lnTo>
                  <a:lnTo>
                    <a:pt x="4152011" y="6350"/>
                  </a:lnTo>
                  <a:lnTo>
                    <a:pt x="4152011" y="0"/>
                  </a:lnTo>
                  <a:cubicBezTo>
                    <a:pt x="4215003" y="0"/>
                    <a:pt x="4266184" y="50546"/>
                    <a:pt x="4266184" y="113030"/>
                  </a:cubicBezTo>
                  <a:lnTo>
                    <a:pt x="4259834" y="113030"/>
                  </a:lnTo>
                  <a:lnTo>
                    <a:pt x="4266184" y="113030"/>
                  </a:lnTo>
                  <a:lnTo>
                    <a:pt x="4266184" y="829945"/>
                  </a:lnTo>
                  <a:lnTo>
                    <a:pt x="4259834" y="829945"/>
                  </a:lnTo>
                  <a:lnTo>
                    <a:pt x="4266184" y="829945"/>
                  </a:lnTo>
                  <a:cubicBezTo>
                    <a:pt x="4266184" y="892429"/>
                    <a:pt x="4215003" y="942975"/>
                    <a:pt x="4152011" y="942975"/>
                  </a:cubicBezTo>
                  <a:lnTo>
                    <a:pt x="4152011" y="936625"/>
                  </a:lnTo>
                  <a:lnTo>
                    <a:pt x="4152011" y="942975"/>
                  </a:lnTo>
                  <a:lnTo>
                    <a:pt x="114173" y="942975"/>
                  </a:lnTo>
                  <a:lnTo>
                    <a:pt x="114173" y="936625"/>
                  </a:lnTo>
                  <a:lnTo>
                    <a:pt x="114173" y="942975"/>
                  </a:lnTo>
                  <a:cubicBezTo>
                    <a:pt x="51181" y="942975"/>
                    <a:pt x="0" y="892429"/>
                    <a:pt x="0" y="829945"/>
                  </a:cubicBezTo>
                  <a:lnTo>
                    <a:pt x="0" y="113030"/>
                  </a:lnTo>
                  <a:lnTo>
                    <a:pt x="6350" y="113030"/>
                  </a:lnTo>
                  <a:lnTo>
                    <a:pt x="0" y="113030"/>
                  </a:lnTo>
                  <a:moveTo>
                    <a:pt x="12700" y="113030"/>
                  </a:moveTo>
                  <a:lnTo>
                    <a:pt x="12700" y="829945"/>
                  </a:lnTo>
                  <a:lnTo>
                    <a:pt x="6350" y="829945"/>
                  </a:lnTo>
                  <a:lnTo>
                    <a:pt x="12700" y="829945"/>
                  </a:lnTo>
                  <a:cubicBezTo>
                    <a:pt x="12700" y="885317"/>
                    <a:pt x="58039" y="930275"/>
                    <a:pt x="114173" y="930275"/>
                  </a:cubicBezTo>
                  <a:lnTo>
                    <a:pt x="4152011" y="930275"/>
                  </a:lnTo>
                  <a:cubicBezTo>
                    <a:pt x="4208145" y="930275"/>
                    <a:pt x="4253484" y="885317"/>
                    <a:pt x="4253484" y="829945"/>
                  </a:cubicBezTo>
                  <a:lnTo>
                    <a:pt x="4253484" y="113030"/>
                  </a:lnTo>
                  <a:cubicBezTo>
                    <a:pt x="4253484" y="57658"/>
                    <a:pt x="4208145" y="12700"/>
                    <a:pt x="4152011" y="12700"/>
                  </a:cubicBezTo>
                  <a:lnTo>
                    <a:pt x="114173" y="12700"/>
                  </a:lnTo>
                  <a:lnTo>
                    <a:pt x="114173" y="6350"/>
                  </a:lnTo>
                  <a:lnTo>
                    <a:pt x="114173" y="12700"/>
                  </a:lnTo>
                  <a:cubicBezTo>
                    <a:pt x="58039" y="12700"/>
                    <a:pt x="12700" y="57658"/>
                    <a:pt x="12700" y="1130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089894" y="8323212"/>
            <a:ext cx="2381250" cy="27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Phosphorus (P)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03236" y="8156524"/>
            <a:ext cx="3199505" cy="707231"/>
            <a:chOff x="0" y="0"/>
            <a:chExt cx="4266006" cy="942975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4253357" cy="930275"/>
            </a:xfrm>
            <a:custGeom>
              <a:avLst/>
              <a:gdLst/>
              <a:ahLst/>
              <a:cxnLst/>
              <a:rect l="l" t="t" r="r" b="b"/>
              <a:pathLst>
                <a:path w="4253357" h="930275">
                  <a:moveTo>
                    <a:pt x="0" y="106680"/>
                  </a:moveTo>
                  <a:cubicBezTo>
                    <a:pt x="0" y="47752"/>
                    <a:pt x="48260" y="0"/>
                    <a:pt x="107823" y="0"/>
                  </a:cubicBezTo>
                  <a:lnTo>
                    <a:pt x="4145534" y="0"/>
                  </a:lnTo>
                  <a:cubicBezTo>
                    <a:pt x="4205097" y="0"/>
                    <a:pt x="4253357" y="47752"/>
                    <a:pt x="4253357" y="106680"/>
                  </a:cubicBezTo>
                  <a:lnTo>
                    <a:pt x="4253357" y="823595"/>
                  </a:lnTo>
                  <a:cubicBezTo>
                    <a:pt x="4253357" y="882523"/>
                    <a:pt x="4205097" y="930275"/>
                    <a:pt x="4145534" y="930275"/>
                  </a:cubicBezTo>
                  <a:lnTo>
                    <a:pt x="107823" y="930275"/>
                  </a:lnTo>
                  <a:cubicBezTo>
                    <a:pt x="48260" y="930275"/>
                    <a:pt x="0" y="882523"/>
                    <a:pt x="0" y="82359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4266057" cy="942975"/>
            </a:xfrm>
            <a:custGeom>
              <a:avLst/>
              <a:gdLst/>
              <a:ahLst/>
              <a:cxnLst/>
              <a:rect l="l" t="t" r="r" b="b"/>
              <a:pathLst>
                <a:path w="4266057" h="942975">
                  <a:moveTo>
                    <a:pt x="0" y="113030"/>
                  </a:moveTo>
                  <a:cubicBezTo>
                    <a:pt x="0" y="50546"/>
                    <a:pt x="51181" y="0"/>
                    <a:pt x="114173" y="0"/>
                  </a:cubicBezTo>
                  <a:lnTo>
                    <a:pt x="4151884" y="0"/>
                  </a:lnTo>
                  <a:lnTo>
                    <a:pt x="4151884" y="6350"/>
                  </a:lnTo>
                  <a:lnTo>
                    <a:pt x="4151884" y="0"/>
                  </a:lnTo>
                  <a:cubicBezTo>
                    <a:pt x="4214876" y="0"/>
                    <a:pt x="4266057" y="50546"/>
                    <a:pt x="4266057" y="113030"/>
                  </a:cubicBezTo>
                  <a:lnTo>
                    <a:pt x="4259707" y="113030"/>
                  </a:lnTo>
                  <a:lnTo>
                    <a:pt x="4266057" y="113030"/>
                  </a:lnTo>
                  <a:lnTo>
                    <a:pt x="4266057" y="829945"/>
                  </a:lnTo>
                  <a:lnTo>
                    <a:pt x="4259707" y="829945"/>
                  </a:lnTo>
                  <a:lnTo>
                    <a:pt x="4266057" y="829945"/>
                  </a:lnTo>
                  <a:cubicBezTo>
                    <a:pt x="4266057" y="892429"/>
                    <a:pt x="4214876" y="942975"/>
                    <a:pt x="4151884" y="942975"/>
                  </a:cubicBezTo>
                  <a:lnTo>
                    <a:pt x="4151884" y="936625"/>
                  </a:lnTo>
                  <a:lnTo>
                    <a:pt x="4151884" y="942975"/>
                  </a:lnTo>
                  <a:lnTo>
                    <a:pt x="114173" y="942975"/>
                  </a:lnTo>
                  <a:lnTo>
                    <a:pt x="114173" y="936625"/>
                  </a:lnTo>
                  <a:lnTo>
                    <a:pt x="114173" y="942975"/>
                  </a:lnTo>
                  <a:cubicBezTo>
                    <a:pt x="51181" y="942975"/>
                    <a:pt x="0" y="892429"/>
                    <a:pt x="0" y="829945"/>
                  </a:cubicBezTo>
                  <a:lnTo>
                    <a:pt x="0" y="113030"/>
                  </a:lnTo>
                  <a:lnTo>
                    <a:pt x="6350" y="113030"/>
                  </a:lnTo>
                  <a:lnTo>
                    <a:pt x="0" y="113030"/>
                  </a:lnTo>
                  <a:moveTo>
                    <a:pt x="12700" y="113030"/>
                  </a:moveTo>
                  <a:lnTo>
                    <a:pt x="12700" y="829945"/>
                  </a:lnTo>
                  <a:lnTo>
                    <a:pt x="6350" y="829945"/>
                  </a:lnTo>
                  <a:lnTo>
                    <a:pt x="12700" y="829945"/>
                  </a:lnTo>
                  <a:cubicBezTo>
                    <a:pt x="12700" y="885317"/>
                    <a:pt x="58039" y="930275"/>
                    <a:pt x="114173" y="930275"/>
                  </a:cubicBezTo>
                  <a:lnTo>
                    <a:pt x="4151884" y="930275"/>
                  </a:lnTo>
                  <a:cubicBezTo>
                    <a:pt x="4208018" y="930275"/>
                    <a:pt x="4253357" y="885317"/>
                    <a:pt x="4253357" y="829945"/>
                  </a:cubicBezTo>
                  <a:lnTo>
                    <a:pt x="4253357" y="113030"/>
                  </a:lnTo>
                  <a:cubicBezTo>
                    <a:pt x="4253357" y="57658"/>
                    <a:pt x="4208018" y="12700"/>
                    <a:pt x="4151884" y="12700"/>
                  </a:cubicBezTo>
                  <a:lnTo>
                    <a:pt x="114173" y="12700"/>
                  </a:lnTo>
                  <a:lnTo>
                    <a:pt x="114173" y="6350"/>
                  </a:lnTo>
                  <a:lnTo>
                    <a:pt x="114173" y="12700"/>
                  </a:lnTo>
                  <a:cubicBezTo>
                    <a:pt x="58039" y="12700"/>
                    <a:pt x="12700" y="57658"/>
                    <a:pt x="12700" y="1130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9408023" y="8323212"/>
            <a:ext cx="2381250" cy="27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Potassium (K)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521203" y="8156524"/>
            <a:ext cx="3199809" cy="707231"/>
            <a:chOff x="0" y="0"/>
            <a:chExt cx="4266413" cy="942975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4253738" cy="930275"/>
            </a:xfrm>
            <a:custGeom>
              <a:avLst/>
              <a:gdLst/>
              <a:ahLst/>
              <a:cxnLst/>
              <a:rect l="l" t="t" r="r" b="b"/>
              <a:pathLst>
                <a:path w="4253738" h="930275">
                  <a:moveTo>
                    <a:pt x="0" y="106680"/>
                  </a:moveTo>
                  <a:cubicBezTo>
                    <a:pt x="0" y="47752"/>
                    <a:pt x="48260" y="0"/>
                    <a:pt x="107823" y="0"/>
                  </a:cubicBezTo>
                  <a:lnTo>
                    <a:pt x="4145915" y="0"/>
                  </a:lnTo>
                  <a:cubicBezTo>
                    <a:pt x="4205478" y="0"/>
                    <a:pt x="4253738" y="47752"/>
                    <a:pt x="4253738" y="106680"/>
                  </a:cubicBezTo>
                  <a:lnTo>
                    <a:pt x="4253738" y="823595"/>
                  </a:lnTo>
                  <a:cubicBezTo>
                    <a:pt x="4253738" y="882523"/>
                    <a:pt x="4205478" y="930275"/>
                    <a:pt x="4145915" y="930275"/>
                  </a:cubicBezTo>
                  <a:lnTo>
                    <a:pt x="107823" y="930275"/>
                  </a:lnTo>
                  <a:cubicBezTo>
                    <a:pt x="48260" y="930275"/>
                    <a:pt x="0" y="882523"/>
                    <a:pt x="0" y="82359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4266438" cy="942975"/>
            </a:xfrm>
            <a:custGeom>
              <a:avLst/>
              <a:gdLst/>
              <a:ahLst/>
              <a:cxnLst/>
              <a:rect l="l" t="t" r="r" b="b"/>
              <a:pathLst>
                <a:path w="4266438" h="942975">
                  <a:moveTo>
                    <a:pt x="0" y="113030"/>
                  </a:moveTo>
                  <a:cubicBezTo>
                    <a:pt x="0" y="50546"/>
                    <a:pt x="51181" y="0"/>
                    <a:pt x="114173" y="0"/>
                  </a:cubicBezTo>
                  <a:lnTo>
                    <a:pt x="4152265" y="0"/>
                  </a:lnTo>
                  <a:lnTo>
                    <a:pt x="4152265" y="6350"/>
                  </a:lnTo>
                  <a:lnTo>
                    <a:pt x="4152265" y="0"/>
                  </a:lnTo>
                  <a:cubicBezTo>
                    <a:pt x="4215257" y="0"/>
                    <a:pt x="4266438" y="50546"/>
                    <a:pt x="4266438" y="113030"/>
                  </a:cubicBezTo>
                  <a:lnTo>
                    <a:pt x="4260088" y="113030"/>
                  </a:lnTo>
                  <a:lnTo>
                    <a:pt x="4266438" y="113030"/>
                  </a:lnTo>
                  <a:lnTo>
                    <a:pt x="4266438" y="829945"/>
                  </a:lnTo>
                  <a:lnTo>
                    <a:pt x="4260088" y="829945"/>
                  </a:lnTo>
                  <a:lnTo>
                    <a:pt x="4266438" y="829945"/>
                  </a:lnTo>
                  <a:cubicBezTo>
                    <a:pt x="4266438" y="892429"/>
                    <a:pt x="4215257" y="942975"/>
                    <a:pt x="4152265" y="942975"/>
                  </a:cubicBezTo>
                  <a:lnTo>
                    <a:pt x="4152265" y="936625"/>
                  </a:lnTo>
                  <a:lnTo>
                    <a:pt x="4152265" y="942975"/>
                  </a:lnTo>
                  <a:lnTo>
                    <a:pt x="114173" y="942975"/>
                  </a:lnTo>
                  <a:lnTo>
                    <a:pt x="114173" y="936625"/>
                  </a:lnTo>
                  <a:lnTo>
                    <a:pt x="114173" y="942975"/>
                  </a:lnTo>
                  <a:cubicBezTo>
                    <a:pt x="51181" y="942975"/>
                    <a:pt x="0" y="892429"/>
                    <a:pt x="0" y="829945"/>
                  </a:cubicBezTo>
                  <a:lnTo>
                    <a:pt x="0" y="113030"/>
                  </a:lnTo>
                  <a:lnTo>
                    <a:pt x="6350" y="113030"/>
                  </a:lnTo>
                  <a:lnTo>
                    <a:pt x="0" y="113030"/>
                  </a:lnTo>
                  <a:moveTo>
                    <a:pt x="12700" y="113030"/>
                  </a:moveTo>
                  <a:lnTo>
                    <a:pt x="12700" y="829945"/>
                  </a:lnTo>
                  <a:lnTo>
                    <a:pt x="6350" y="829945"/>
                  </a:lnTo>
                  <a:lnTo>
                    <a:pt x="12700" y="829945"/>
                  </a:lnTo>
                  <a:cubicBezTo>
                    <a:pt x="12700" y="885317"/>
                    <a:pt x="58039" y="930275"/>
                    <a:pt x="114173" y="930275"/>
                  </a:cubicBezTo>
                  <a:lnTo>
                    <a:pt x="4152265" y="930275"/>
                  </a:lnTo>
                  <a:cubicBezTo>
                    <a:pt x="4208399" y="930275"/>
                    <a:pt x="4253738" y="885317"/>
                    <a:pt x="4253738" y="829945"/>
                  </a:cubicBezTo>
                  <a:lnTo>
                    <a:pt x="4253738" y="113030"/>
                  </a:lnTo>
                  <a:cubicBezTo>
                    <a:pt x="4253738" y="57658"/>
                    <a:pt x="4208399" y="12700"/>
                    <a:pt x="4152265" y="12700"/>
                  </a:cubicBezTo>
                  <a:lnTo>
                    <a:pt x="114173" y="12700"/>
                  </a:lnTo>
                  <a:lnTo>
                    <a:pt x="114173" y="6350"/>
                  </a:lnTo>
                  <a:lnTo>
                    <a:pt x="114173" y="12700"/>
                  </a:lnTo>
                  <a:cubicBezTo>
                    <a:pt x="58039" y="12700"/>
                    <a:pt x="12700" y="57658"/>
                    <a:pt x="12700" y="1130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2726000" y="8323212"/>
            <a:ext cx="2381250" cy="27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Temperature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566988" y="8982227"/>
            <a:ext cx="4305595" cy="707231"/>
            <a:chOff x="0" y="0"/>
            <a:chExt cx="5740794" cy="942975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5728208" cy="930275"/>
            </a:xfrm>
            <a:custGeom>
              <a:avLst/>
              <a:gdLst/>
              <a:ahLst/>
              <a:cxnLst/>
              <a:rect l="l" t="t" r="r" b="b"/>
              <a:pathLst>
                <a:path w="5728208" h="930275">
                  <a:moveTo>
                    <a:pt x="0" y="106680"/>
                  </a:moveTo>
                  <a:cubicBezTo>
                    <a:pt x="0" y="47752"/>
                    <a:pt x="48260" y="0"/>
                    <a:pt x="107950" y="0"/>
                  </a:cubicBezTo>
                  <a:lnTo>
                    <a:pt x="5620258" y="0"/>
                  </a:lnTo>
                  <a:cubicBezTo>
                    <a:pt x="5679821" y="0"/>
                    <a:pt x="5728208" y="47752"/>
                    <a:pt x="5728208" y="106680"/>
                  </a:cubicBezTo>
                  <a:lnTo>
                    <a:pt x="5728208" y="823595"/>
                  </a:lnTo>
                  <a:cubicBezTo>
                    <a:pt x="5728208" y="882523"/>
                    <a:pt x="5679948" y="930275"/>
                    <a:pt x="5620258" y="930275"/>
                  </a:cubicBezTo>
                  <a:lnTo>
                    <a:pt x="107950" y="930275"/>
                  </a:lnTo>
                  <a:cubicBezTo>
                    <a:pt x="48387" y="930275"/>
                    <a:pt x="0" y="882523"/>
                    <a:pt x="0" y="82359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5740908" cy="942975"/>
            </a:xfrm>
            <a:custGeom>
              <a:avLst/>
              <a:gdLst/>
              <a:ahLst/>
              <a:cxnLst/>
              <a:rect l="l" t="t" r="r" b="b"/>
              <a:pathLst>
                <a:path w="5740908" h="942975">
                  <a:moveTo>
                    <a:pt x="0" y="113030"/>
                  </a:moveTo>
                  <a:cubicBezTo>
                    <a:pt x="0" y="50546"/>
                    <a:pt x="51181" y="0"/>
                    <a:pt x="114300" y="0"/>
                  </a:cubicBezTo>
                  <a:lnTo>
                    <a:pt x="5626608" y="0"/>
                  </a:lnTo>
                  <a:lnTo>
                    <a:pt x="5626608" y="6350"/>
                  </a:lnTo>
                  <a:lnTo>
                    <a:pt x="5626608" y="0"/>
                  </a:lnTo>
                  <a:cubicBezTo>
                    <a:pt x="5689600" y="0"/>
                    <a:pt x="5740908" y="50546"/>
                    <a:pt x="5740908" y="113030"/>
                  </a:cubicBezTo>
                  <a:lnTo>
                    <a:pt x="5734558" y="113030"/>
                  </a:lnTo>
                  <a:lnTo>
                    <a:pt x="5740908" y="113030"/>
                  </a:lnTo>
                  <a:lnTo>
                    <a:pt x="5740908" y="829945"/>
                  </a:lnTo>
                  <a:lnTo>
                    <a:pt x="5734558" y="829945"/>
                  </a:lnTo>
                  <a:lnTo>
                    <a:pt x="5740908" y="829945"/>
                  </a:lnTo>
                  <a:cubicBezTo>
                    <a:pt x="5740908" y="892429"/>
                    <a:pt x="5689727" y="942975"/>
                    <a:pt x="5626608" y="942975"/>
                  </a:cubicBezTo>
                  <a:lnTo>
                    <a:pt x="5626608" y="936625"/>
                  </a:lnTo>
                  <a:lnTo>
                    <a:pt x="5626608" y="942975"/>
                  </a:lnTo>
                  <a:lnTo>
                    <a:pt x="114300" y="942975"/>
                  </a:lnTo>
                  <a:lnTo>
                    <a:pt x="114300" y="936625"/>
                  </a:lnTo>
                  <a:lnTo>
                    <a:pt x="114300" y="942975"/>
                  </a:lnTo>
                  <a:cubicBezTo>
                    <a:pt x="51308" y="942975"/>
                    <a:pt x="0" y="892429"/>
                    <a:pt x="0" y="829945"/>
                  </a:cubicBezTo>
                  <a:lnTo>
                    <a:pt x="0" y="113030"/>
                  </a:lnTo>
                  <a:lnTo>
                    <a:pt x="6350" y="113030"/>
                  </a:lnTo>
                  <a:lnTo>
                    <a:pt x="0" y="113030"/>
                  </a:lnTo>
                  <a:moveTo>
                    <a:pt x="12700" y="113030"/>
                  </a:moveTo>
                  <a:lnTo>
                    <a:pt x="12700" y="829945"/>
                  </a:lnTo>
                  <a:lnTo>
                    <a:pt x="6350" y="829945"/>
                  </a:lnTo>
                  <a:lnTo>
                    <a:pt x="12700" y="829945"/>
                  </a:lnTo>
                  <a:cubicBezTo>
                    <a:pt x="12700" y="885317"/>
                    <a:pt x="58039" y="930275"/>
                    <a:pt x="114300" y="930275"/>
                  </a:cubicBezTo>
                  <a:lnTo>
                    <a:pt x="5626608" y="930275"/>
                  </a:lnTo>
                  <a:cubicBezTo>
                    <a:pt x="5682742" y="930275"/>
                    <a:pt x="5728208" y="885317"/>
                    <a:pt x="5728208" y="829945"/>
                  </a:cubicBezTo>
                  <a:lnTo>
                    <a:pt x="5728208" y="113030"/>
                  </a:lnTo>
                  <a:cubicBezTo>
                    <a:pt x="5728208" y="57658"/>
                    <a:pt x="5682869" y="12700"/>
                    <a:pt x="5626608" y="12700"/>
                  </a:cubicBezTo>
                  <a:lnTo>
                    <a:pt x="114300" y="12700"/>
                  </a:lnTo>
                  <a:lnTo>
                    <a:pt x="114300" y="6350"/>
                  </a:lnTo>
                  <a:lnTo>
                    <a:pt x="114300" y="12700"/>
                  </a:lnTo>
                  <a:cubicBezTo>
                    <a:pt x="58039" y="12700"/>
                    <a:pt x="12700" y="57658"/>
                    <a:pt x="12700" y="1130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2771775" y="9148915"/>
            <a:ext cx="2381250" cy="27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Humidity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991055" y="8982227"/>
            <a:ext cx="4305748" cy="707231"/>
            <a:chOff x="0" y="0"/>
            <a:chExt cx="5740997" cy="942975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5728335" cy="930275"/>
            </a:xfrm>
            <a:custGeom>
              <a:avLst/>
              <a:gdLst/>
              <a:ahLst/>
              <a:cxnLst/>
              <a:rect l="l" t="t" r="r" b="b"/>
              <a:pathLst>
                <a:path w="5728335" h="930275">
                  <a:moveTo>
                    <a:pt x="0" y="106680"/>
                  </a:moveTo>
                  <a:cubicBezTo>
                    <a:pt x="0" y="47752"/>
                    <a:pt x="48260" y="0"/>
                    <a:pt x="107950" y="0"/>
                  </a:cubicBezTo>
                  <a:lnTo>
                    <a:pt x="5620385" y="0"/>
                  </a:lnTo>
                  <a:cubicBezTo>
                    <a:pt x="5679948" y="0"/>
                    <a:pt x="5728335" y="47752"/>
                    <a:pt x="5728335" y="106680"/>
                  </a:cubicBezTo>
                  <a:lnTo>
                    <a:pt x="5728335" y="823595"/>
                  </a:lnTo>
                  <a:cubicBezTo>
                    <a:pt x="5728335" y="882523"/>
                    <a:pt x="5680075" y="930275"/>
                    <a:pt x="5620385" y="930275"/>
                  </a:cubicBezTo>
                  <a:lnTo>
                    <a:pt x="107950" y="930275"/>
                  </a:lnTo>
                  <a:cubicBezTo>
                    <a:pt x="48387" y="930275"/>
                    <a:pt x="0" y="882523"/>
                    <a:pt x="0" y="82359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5741035" cy="942975"/>
            </a:xfrm>
            <a:custGeom>
              <a:avLst/>
              <a:gdLst/>
              <a:ahLst/>
              <a:cxnLst/>
              <a:rect l="l" t="t" r="r" b="b"/>
              <a:pathLst>
                <a:path w="5741035" h="942975">
                  <a:moveTo>
                    <a:pt x="0" y="113030"/>
                  </a:moveTo>
                  <a:cubicBezTo>
                    <a:pt x="0" y="50546"/>
                    <a:pt x="51181" y="0"/>
                    <a:pt x="114300" y="0"/>
                  </a:cubicBezTo>
                  <a:lnTo>
                    <a:pt x="5626735" y="0"/>
                  </a:lnTo>
                  <a:lnTo>
                    <a:pt x="5626735" y="6350"/>
                  </a:lnTo>
                  <a:lnTo>
                    <a:pt x="5626735" y="0"/>
                  </a:lnTo>
                  <a:cubicBezTo>
                    <a:pt x="5689727" y="0"/>
                    <a:pt x="5741035" y="50546"/>
                    <a:pt x="5741035" y="113030"/>
                  </a:cubicBezTo>
                  <a:lnTo>
                    <a:pt x="5734685" y="113030"/>
                  </a:lnTo>
                  <a:lnTo>
                    <a:pt x="5741035" y="113030"/>
                  </a:lnTo>
                  <a:lnTo>
                    <a:pt x="5741035" y="829945"/>
                  </a:lnTo>
                  <a:lnTo>
                    <a:pt x="5734685" y="829945"/>
                  </a:lnTo>
                  <a:lnTo>
                    <a:pt x="5741035" y="829945"/>
                  </a:lnTo>
                  <a:cubicBezTo>
                    <a:pt x="5741035" y="892429"/>
                    <a:pt x="5689854" y="942975"/>
                    <a:pt x="5626735" y="942975"/>
                  </a:cubicBezTo>
                  <a:lnTo>
                    <a:pt x="5626735" y="936625"/>
                  </a:lnTo>
                  <a:lnTo>
                    <a:pt x="5626735" y="942975"/>
                  </a:lnTo>
                  <a:lnTo>
                    <a:pt x="114300" y="942975"/>
                  </a:lnTo>
                  <a:lnTo>
                    <a:pt x="114300" y="936625"/>
                  </a:lnTo>
                  <a:lnTo>
                    <a:pt x="114300" y="942975"/>
                  </a:lnTo>
                  <a:cubicBezTo>
                    <a:pt x="51308" y="942975"/>
                    <a:pt x="0" y="892429"/>
                    <a:pt x="0" y="829945"/>
                  </a:cubicBezTo>
                  <a:lnTo>
                    <a:pt x="0" y="113030"/>
                  </a:lnTo>
                  <a:lnTo>
                    <a:pt x="6350" y="113030"/>
                  </a:lnTo>
                  <a:lnTo>
                    <a:pt x="0" y="113030"/>
                  </a:lnTo>
                  <a:moveTo>
                    <a:pt x="12700" y="113030"/>
                  </a:moveTo>
                  <a:lnTo>
                    <a:pt x="12700" y="829945"/>
                  </a:lnTo>
                  <a:lnTo>
                    <a:pt x="6350" y="829945"/>
                  </a:lnTo>
                  <a:lnTo>
                    <a:pt x="12700" y="829945"/>
                  </a:lnTo>
                  <a:cubicBezTo>
                    <a:pt x="12700" y="885317"/>
                    <a:pt x="58039" y="930275"/>
                    <a:pt x="114300" y="930275"/>
                  </a:cubicBezTo>
                  <a:lnTo>
                    <a:pt x="5626735" y="930275"/>
                  </a:lnTo>
                  <a:cubicBezTo>
                    <a:pt x="5682869" y="930275"/>
                    <a:pt x="5728335" y="885317"/>
                    <a:pt x="5728335" y="829945"/>
                  </a:cubicBezTo>
                  <a:lnTo>
                    <a:pt x="5728335" y="113030"/>
                  </a:lnTo>
                  <a:cubicBezTo>
                    <a:pt x="5728335" y="57658"/>
                    <a:pt x="5682996" y="12700"/>
                    <a:pt x="5626735" y="12700"/>
                  </a:cubicBezTo>
                  <a:lnTo>
                    <a:pt x="114300" y="12700"/>
                  </a:lnTo>
                  <a:lnTo>
                    <a:pt x="114300" y="6350"/>
                  </a:lnTo>
                  <a:lnTo>
                    <a:pt x="114300" y="12700"/>
                  </a:lnTo>
                  <a:cubicBezTo>
                    <a:pt x="58039" y="12700"/>
                    <a:pt x="12700" y="57658"/>
                    <a:pt x="12700" y="1130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7195842" y="9148915"/>
            <a:ext cx="2381250" cy="27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pH Level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1415265" y="8982227"/>
            <a:ext cx="4305748" cy="707231"/>
            <a:chOff x="0" y="0"/>
            <a:chExt cx="5740997" cy="942975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5728335" cy="930275"/>
            </a:xfrm>
            <a:custGeom>
              <a:avLst/>
              <a:gdLst/>
              <a:ahLst/>
              <a:cxnLst/>
              <a:rect l="l" t="t" r="r" b="b"/>
              <a:pathLst>
                <a:path w="5728335" h="930275">
                  <a:moveTo>
                    <a:pt x="0" y="106680"/>
                  </a:moveTo>
                  <a:cubicBezTo>
                    <a:pt x="0" y="47752"/>
                    <a:pt x="48260" y="0"/>
                    <a:pt x="107950" y="0"/>
                  </a:cubicBezTo>
                  <a:lnTo>
                    <a:pt x="5620385" y="0"/>
                  </a:lnTo>
                  <a:cubicBezTo>
                    <a:pt x="5679948" y="0"/>
                    <a:pt x="5728335" y="47752"/>
                    <a:pt x="5728335" y="106680"/>
                  </a:cubicBezTo>
                  <a:lnTo>
                    <a:pt x="5728335" y="823595"/>
                  </a:lnTo>
                  <a:cubicBezTo>
                    <a:pt x="5728335" y="882523"/>
                    <a:pt x="5680075" y="930275"/>
                    <a:pt x="5620385" y="930275"/>
                  </a:cubicBezTo>
                  <a:lnTo>
                    <a:pt x="107950" y="930275"/>
                  </a:lnTo>
                  <a:cubicBezTo>
                    <a:pt x="48387" y="930275"/>
                    <a:pt x="0" y="882523"/>
                    <a:pt x="0" y="823595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5741035" cy="942975"/>
            </a:xfrm>
            <a:custGeom>
              <a:avLst/>
              <a:gdLst/>
              <a:ahLst/>
              <a:cxnLst/>
              <a:rect l="l" t="t" r="r" b="b"/>
              <a:pathLst>
                <a:path w="5741035" h="942975">
                  <a:moveTo>
                    <a:pt x="0" y="113030"/>
                  </a:moveTo>
                  <a:cubicBezTo>
                    <a:pt x="0" y="50546"/>
                    <a:pt x="51181" y="0"/>
                    <a:pt x="114300" y="0"/>
                  </a:cubicBezTo>
                  <a:lnTo>
                    <a:pt x="5626735" y="0"/>
                  </a:lnTo>
                  <a:lnTo>
                    <a:pt x="5626735" y="6350"/>
                  </a:lnTo>
                  <a:lnTo>
                    <a:pt x="5626735" y="0"/>
                  </a:lnTo>
                  <a:cubicBezTo>
                    <a:pt x="5689727" y="0"/>
                    <a:pt x="5741035" y="50546"/>
                    <a:pt x="5741035" y="113030"/>
                  </a:cubicBezTo>
                  <a:lnTo>
                    <a:pt x="5734685" y="113030"/>
                  </a:lnTo>
                  <a:lnTo>
                    <a:pt x="5741035" y="113030"/>
                  </a:lnTo>
                  <a:lnTo>
                    <a:pt x="5741035" y="829945"/>
                  </a:lnTo>
                  <a:lnTo>
                    <a:pt x="5734685" y="829945"/>
                  </a:lnTo>
                  <a:lnTo>
                    <a:pt x="5741035" y="829945"/>
                  </a:lnTo>
                  <a:cubicBezTo>
                    <a:pt x="5741035" y="892429"/>
                    <a:pt x="5689854" y="942975"/>
                    <a:pt x="5626735" y="942975"/>
                  </a:cubicBezTo>
                  <a:lnTo>
                    <a:pt x="5626735" y="936625"/>
                  </a:lnTo>
                  <a:lnTo>
                    <a:pt x="5626735" y="942975"/>
                  </a:lnTo>
                  <a:lnTo>
                    <a:pt x="114300" y="942975"/>
                  </a:lnTo>
                  <a:lnTo>
                    <a:pt x="114300" y="936625"/>
                  </a:lnTo>
                  <a:lnTo>
                    <a:pt x="114300" y="942975"/>
                  </a:lnTo>
                  <a:cubicBezTo>
                    <a:pt x="51308" y="942975"/>
                    <a:pt x="0" y="892429"/>
                    <a:pt x="0" y="829945"/>
                  </a:cubicBezTo>
                  <a:lnTo>
                    <a:pt x="0" y="113030"/>
                  </a:lnTo>
                  <a:lnTo>
                    <a:pt x="6350" y="113030"/>
                  </a:lnTo>
                  <a:lnTo>
                    <a:pt x="0" y="113030"/>
                  </a:lnTo>
                  <a:moveTo>
                    <a:pt x="12700" y="113030"/>
                  </a:moveTo>
                  <a:lnTo>
                    <a:pt x="12700" y="829945"/>
                  </a:lnTo>
                  <a:lnTo>
                    <a:pt x="6350" y="829945"/>
                  </a:lnTo>
                  <a:lnTo>
                    <a:pt x="12700" y="829945"/>
                  </a:lnTo>
                  <a:cubicBezTo>
                    <a:pt x="12700" y="885317"/>
                    <a:pt x="58039" y="930275"/>
                    <a:pt x="114300" y="930275"/>
                  </a:cubicBezTo>
                  <a:lnTo>
                    <a:pt x="5626735" y="930275"/>
                  </a:lnTo>
                  <a:cubicBezTo>
                    <a:pt x="5682869" y="930275"/>
                    <a:pt x="5728335" y="885317"/>
                    <a:pt x="5728335" y="829945"/>
                  </a:cubicBezTo>
                  <a:lnTo>
                    <a:pt x="5728335" y="113030"/>
                  </a:lnTo>
                  <a:cubicBezTo>
                    <a:pt x="5728335" y="57658"/>
                    <a:pt x="5682996" y="12700"/>
                    <a:pt x="5626735" y="12700"/>
                  </a:cubicBezTo>
                  <a:lnTo>
                    <a:pt x="114300" y="12700"/>
                  </a:lnTo>
                  <a:lnTo>
                    <a:pt x="114300" y="6350"/>
                  </a:lnTo>
                  <a:lnTo>
                    <a:pt x="114300" y="12700"/>
                  </a:lnTo>
                  <a:cubicBezTo>
                    <a:pt x="58039" y="12700"/>
                    <a:pt x="12700" y="57658"/>
                    <a:pt x="12700" y="1130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1620052" y="9148915"/>
            <a:ext cx="2381250" cy="27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Rainfall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091956"/>
            <a:ext cx="11949112" cy="82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dirty="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Machine Learning Models Compared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535441"/>
            <a:ext cx="16303523" cy="8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Five algorithms were trained and evaluated. </a:t>
            </a:r>
            <a:r>
              <a:rPr lang="en-US" sz="2200" b="1" dirty="0" err="1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XGBoost</a:t>
            </a: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was selected as the final model for its superior handling of complex, non-linear agricultural data.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3188" y="3761927"/>
            <a:ext cx="5283546" cy="2569959"/>
            <a:chOff x="0" y="0"/>
            <a:chExt cx="7044728" cy="3426612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6994017" cy="3375787"/>
            </a:xfrm>
            <a:custGeom>
              <a:avLst/>
              <a:gdLst/>
              <a:ahLst/>
              <a:cxnLst/>
              <a:rect l="l" t="t" r="r" b="b"/>
              <a:pathLst>
                <a:path w="6994017" h="3375787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6748272" y="0"/>
                  </a:lnTo>
                  <a:cubicBezTo>
                    <a:pt x="6884035" y="0"/>
                    <a:pt x="6994017" y="109220"/>
                    <a:pt x="6994017" y="243840"/>
                  </a:cubicBezTo>
                  <a:lnTo>
                    <a:pt x="6994017" y="3131947"/>
                  </a:lnTo>
                  <a:cubicBezTo>
                    <a:pt x="6994017" y="3266567"/>
                    <a:pt x="6884035" y="3375787"/>
                    <a:pt x="6748272" y="3375787"/>
                  </a:cubicBezTo>
                  <a:lnTo>
                    <a:pt x="245745" y="3375787"/>
                  </a:lnTo>
                  <a:cubicBezTo>
                    <a:pt x="109982" y="3375787"/>
                    <a:pt x="0" y="3266567"/>
                    <a:pt x="0" y="313194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044817" cy="3426587"/>
            </a:xfrm>
            <a:custGeom>
              <a:avLst/>
              <a:gdLst/>
              <a:ahLst/>
              <a:cxnLst/>
              <a:rect l="l" t="t" r="r" b="b"/>
              <a:pathLst>
                <a:path w="7044817" h="3426587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278" y="0"/>
                    <a:pt x="7044817" y="120396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3157347"/>
                  </a:lnTo>
                  <a:lnTo>
                    <a:pt x="7019417" y="3157347"/>
                  </a:lnTo>
                  <a:lnTo>
                    <a:pt x="7044817" y="3157347"/>
                  </a:lnTo>
                  <a:cubicBezTo>
                    <a:pt x="7044817" y="3306191"/>
                    <a:pt x="6923278" y="3426587"/>
                    <a:pt x="6773672" y="3426587"/>
                  </a:cubicBezTo>
                  <a:lnTo>
                    <a:pt x="6773672" y="3401187"/>
                  </a:lnTo>
                  <a:lnTo>
                    <a:pt x="6773672" y="3426587"/>
                  </a:lnTo>
                  <a:lnTo>
                    <a:pt x="271145" y="3426587"/>
                  </a:lnTo>
                  <a:lnTo>
                    <a:pt x="271145" y="3401187"/>
                  </a:lnTo>
                  <a:lnTo>
                    <a:pt x="271145" y="3426587"/>
                  </a:lnTo>
                  <a:cubicBezTo>
                    <a:pt x="121539" y="3426587"/>
                    <a:pt x="0" y="3306318"/>
                    <a:pt x="0" y="315734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57347"/>
                  </a:lnTo>
                  <a:lnTo>
                    <a:pt x="25400" y="3157347"/>
                  </a:lnTo>
                  <a:lnTo>
                    <a:pt x="50800" y="3157347"/>
                  </a:lnTo>
                  <a:cubicBezTo>
                    <a:pt x="50800" y="3277743"/>
                    <a:pt x="149225" y="3375787"/>
                    <a:pt x="271145" y="3375787"/>
                  </a:cubicBezTo>
                  <a:lnTo>
                    <a:pt x="6773672" y="3375787"/>
                  </a:lnTo>
                  <a:cubicBezTo>
                    <a:pt x="6895592" y="3375787"/>
                    <a:pt x="6994017" y="3277743"/>
                    <a:pt x="6994017" y="3157347"/>
                  </a:cubicBezTo>
                  <a:lnTo>
                    <a:pt x="6994017" y="269240"/>
                  </a:lnTo>
                  <a:cubicBezTo>
                    <a:pt x="6994017" y="148844"/>
                    <a:pt x="6895592" y="50800"/>
                    <a:pt x="6773672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54138" y="3780977"/>
            <a:ext cx="152400" cy="2531859"/>
            <a:chOff x="0" y="0"/>
            <a:chExt cx="203200" cy="337581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03200" cy="3375787"/>
            </a:xfrm>
            <a:custGeom>
              <a:avLst/>
              <a:gdLst/>
              <a:ahLst/>
              <a:cxnLst/>
              <a:rect l="l" t="t" r="r" b="b"/>
              <a:pathLst>
                <a:path w="203200" h="3375787">
                  <a:moveTo>
                    <a:pt x="0" y="0"/>
                  </a:moveTo>
                  <a:lnTo>
                    <a:pt x="203200" y="0"/>
                  </a:lnTo>
                  <a:lnTo>
                    <a:pt x="203200" y="3375787"/>
                  </a:lnTo>
                  <a:lnTo>
                    <a:pt x="0" y="3375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" b="-36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428150" y="4074023"/>
            <a:ext cx="3544043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KNN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8150" y="4639418"/>
            <a:ext cx="4487913" cy="8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Distance-based; intuitive but sensitive to feature scaling and outliers.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02156" y="3761927"/>
            <a:ext cx="5283546" cy="2569959"/>
            <a:chOff x="0" y="0"/>
            <a:chExt cx="7044728" cy="3426612"/>
          </a:xfrm>
        </p:grpSpPr>
        <p:sp>
          <p:nvSpPr>
            <p:cNvPr id="16" name="Freeform 16"/>
            <p:cNvSpPr/>
            <p:nvPr/>
          </p:nvSpPr>
          <p:spPr>
            <a:xfrm>
              <a:off x="25400" y="25400"/>
              <a:ext cx="6994017" cy="3375787"/>
            </a:xfrm>
            <a:custGeom>
              <a:avLst/>
              <a:gdLst/>
              <a:ahLst/>
              <a:cxnLst/>
              <a:rect l="l" t="t" r="r" b="b"/>
              <a:pathLst>
                <a:path w="6994017" h="3375787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6748272" y="0"/>
                  </a:lnTo>
                  <a:cubicBezTo>
                    <a:pt x="6884035" y="0"/>
                    <a:pt x="6994017" y="109220"/>
                    <a:pt x="6994017" y="243840"/>
                  </a:cubicBezTo>
                  <a:lnTo>
                    <a:pt x="6994017" y="3131947"/>
                  </a:lnTo>
                  <a:cubicBezTo>
                    <a:pt x="6994017" y="3266567"/>
                    <a:pt x="6884035" y="3375787"/>
                    <a:pt x="6748272" y="3375787"/>
                  </a:cubicBezTo>
                  <a:lnTo>
                    <a:pt x="245745" y="3375787"/>
                  </a:lnTo>
                  <a:cubicBezTo>
                    <a:pt x="109982" y="3375787"/>
                    <a:pt x="0" y="3266567"/>
                    <a:pt x="0" y="313194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7044817" cy="3426587"/>
            </a:xfrm>
            <a:custGeom>
              <a:avLst/>
              <a:gdLst/>
              <a:ahLst/>
              <a:cxnLst/>
              <a:rect l="l" t="t" r="r" b="b"/>
              <a:pathLst>
                <a:path w="7044817" h="3426587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278" y="0"/>
                    <a:pt x="7044817" y="120396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3157347"/>
                  </a:lnTo>
                  <a:lnTo>
                    <a:pt x="7019417" y="3157347"/>
                  </a:lnTo>
                  <a:lnTo>
                    <a:pt x="7044817" y="3157347"/>
                  </a:lnTo>
                  <a:cubicBezTo>
                    <a:pt x="7044817" y="3306191"/>
                    <a:pt x="6923278" y="3426587"/>
                    <a:pt x="6773672" y="3426587"/>
                  </a:cubicBezTo>
                  <a:lnTo>
                    <a:pt x="6773672" y="3401187"/>
                  </a:lnTo>
                  <a:lnTo>
                    <a:pt x="6773672" y="3426587"/>
                  </a:lnTo>
                  <a:lnTo>
                    <a:pt x="271145" y="3426587"/>
                  </a:lnTo>
                  <a:lnTo>
                    <a:pt x="271145" y="3401187"/>
                  </a:lnTo>
                  <a:lnTo>
                    <a:pt x="271145" y="3426587"/>
                  </a:lnTo>
                  <a:cubicBezTo>
                    <a:pt x="121539" y="3426587"/>
                    <a:pt x="0" y="3306318"/>
                    <a:pt x="0" y="315734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57347"/>
                  </a:lnTo>
                  <a:lnTo>
                    <a:pt x="25400" y="3157347"/>
                  </a:lnTo>
                  <a:lnTo>
                    <a:pt x="50800" y="3157347"/>
                  </a:lnTo>
                  <a:cubicBezTo>
                    <a:pt x="50800" y="3277743"/>
                    <a:pt x="149225" y="3375787"/>
                    <a:pt x="271145" y="3375787"/>
                  </a:cubicBezTo>
                  <a:lnTo>
                    <a:pt x="6773672" y="3375787"/>
                  </a:lnTo>
                  <a:cubicBezTo>
                    <a:pt x="6895592" y="3375787"/>
                    <a:pt x="6994017" y="3277743"/>
                    <a:pt x="6994017" y="3157347"/>
                  </a:cubicBezTo>
                  <a:lnTo>
                    <a:pt x="6994017" y="269240"/>
                  </a:lnTo>
                  <a:cubicBezTo>
                    <a:pt x="6994017" y="148844"/>
                    <a:pt x="6895592" y="50800"/>
                    <a:pt x="6773672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483106" y="3780977"/>
            <a:ext cx="152400" cy="2531859"/>
            <a:chOff x="0" y="0"/>
            <a:chExt cx="203200" cy="3375812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203200" cy="3375787"/>
            </a:xfrm>
            <a:custGeom>
              <a:avLst/>
              <a:gdLst/>
              <a:ahLst/>
              <a:cxnLst/>
              <a:rect l="l" t="t" r="r" b="b"/>
              <a:pathLst>
                <a:path w="203200" h="3375787">
                  <a:moveTo>
                    <a:pt x="0" y="0"/>
                  </a:moveTo>
                  <a:lnTo>
                    <a:pt x="203200" y="0"/>
                  </a:lnTo>
                  <a:lnTo>
                    <a:pt x="203200" y="3375787"/>
                  </a:lnTo>
                  <a:lnTo>
                    <a:pt x="0" y="3375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" b="-36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6957117" y="4074023"/>
            <a:ext cx="3544043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SVM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7117" y="4639418"/>
            <a:ext cx="4487913" cy="8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Strong in high-dimensional spaces; slower on larger datasets.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31113" y="3761927"/>
            <a:ext cx="5283546" cy="2569959"/>
            <a:chOff x="0" y="0"/>
            <a:chExt cx="7044728" cy="3426612"/>
          </a:xfrm>
        </p:grpSpPr>
        <p:sp>
          <p:nvSpPr>
            <p:cNvPr id="23" name="Freeform 23"/>
            <p:cNvSpPr/>
            <p:nvPr/>
          </p:nvSpPr>
          <p:spPr>
            <a:xfrm>
              <a:off x="25400" y="25400"/>
              <a:ext cx="6994017" cy="3375787"/>
            </a:xfrm>
            <a:custGeom>
              <a:avLst/>
              <a:gdLst/>
              <a:ahLst/>
              <a:cxnLst/>
              <a:rect l="l" t="t" r="r" b="b"/>
              <a:pathLst>
                <a:path w="6994017" h="3375787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6748272" y="0"/>
                  </a:lnTo>
                  <a:cubicBezTo>
                    <a:pt x="6884035" y="0"/>
                    <a:pt x="6994017" y="109220"/>
                    <a:pt x="6994017" y="243840"/>
                  </a:cubicBezTo>
                  <a:lnTo>
                    <a:pt x="6994017" y="3131947"/>
                  </a:lnTo>
                  <a:cubicBezTo>
                    <a:pt x="6994017" y="3266567"/>
                    <a:pt x="6884035" y="3375787"/>
                    <a:pt x="6748272" y="3375787"/>
                  </a:cubicBezTo>
                  <a:lnTo>
                    <a:pt x="245745" y="3375787"/>
                  </a:lnTo>
                  <a:cubicBezTo>
                    <a:pt x="109982" y="3375787"/>
                    <a:pt x="0" y="3266567"/>
                    <a:pt x="0" y="313194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7044817" cy="3426587"/>
            </a:xfrm>
            <a:custGeom>
              <a:avLst/>
              <a:gdLst/>
              <a:ahLst/>
              <a:cxnLst/>
              <a:rect l="l" t="t" r="r" b="b"/>
              <a:pathLst>
                <a:path w="7044817" h="3426587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278" y="0"/>
                    <a:pt x="7044817" y="120396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3157347"/>
                  </a:lnTo>
                  <a:lnTo>
                    <a:pt x="7019417" y="3157347"/>
                  </a:lnTo>
                  <a:lnTo>
                    <a:pt x="7044817" y="3157347"/>
                  </a:lnTo>
                  <a:cubicBezTo>
                    <a:pt x="7044817" y="3306191"/>
                    <a:pt x="6923278" y="3426587"/>
                    <a:pt x="6773672" y="3426587"/>
                  </a:cubicBezTo>
                  <a:lnTo>
                    <a:pt x="6773672" y="3401187"/>
                  </a:lnTo>
                  <a:lnTo>
                    <a:pt x="6773672" y="3426587"/>
                  </a:lnTo>
                  <a:lnTo>
                    <a:pt x="271145" y="3426587"/>
                  </a:lnTo>
                  <a:lnTo>
                    <a:pt x="271145" y="3401187"/>
                  </a:lnTo>
                  <a:lnTo>
                    <a:pt x="271145" y="3426587"/>
                  </a:lnTo>
                  <a:cubicBezTo>
                    <a:pt x="121539" y="3426587"/>
                    <a:pt x="0" y="3306318"/>
                    <a:pt x="0" y="315734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57347"/>
                  </a:lnTo>
                  <a:lnTo>
                    <a:pt x="25400" y="3157347"/>
                  </a:lnTo>
                  <a:lnTo>
                    <a:pt x="50800" y="3157347"/>
                  </a:lnTo>
                  <a:cubicBezTo>
                    <a:pt x="50800" y="3277743"/>
                    <a:pt x="149225" y="3375787"/>
                    <a:pt x="271145" y="3375787"/>
                  </a:cubicBezTo>
                  <a:lnTo>
                    <a:pt x="6773672" y="3375787"/>
                  </a:lnTo>
                  <a:cubicBezTo>
                    <a:pt x="6895592" y="3375787"/>
                    <a:pt x="6994017" y="3277743"/>
                    <a:pt x="6994017" y="3157347"/>
                  </a:cubicBezTo>
                  <a:lnTo>
                    <a:pt x="6994017" y="269240"/>
                  </a:lnTo>
                  <a:cubicBezTo>
                    <a:pt x="6994017" y="148844"/>
                    <a:pt x="6895592" y="50800"/>
                    <a:pt x="6773672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2012063" y="3780977"/>
            <a:ext cx="152400" cy="2531859"/>
            <a:chOff x="0" y="0"/>
            <a:chExt cx="203200" cy="3375812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203200" cy="3375787"/>
            </a:xfrm>
            <a:custGeom>
              <a:avLst/>
              <a:gdLst/>
              <a:ahLst/>
              <a:cxnLst/>
              <a:rect l="l" t="t" r="r" b="b"/>
              <a:pathLst>
                <a:path w="203200" h="3375787">
                  <a:moveTo>
                    <a:pt x="0" y="0"/>
                  </a:moveTo>
                  <a:lnTo>
                    <a:pt x="203200" y="0"/>
                  </a:lnTo>
                  <a:lnTo>
                    <a:pt x="203200" y="3375787"/>
                  </a:lnTo>
                  <a:lnTo>
                    <a:pt x="0" y="3375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" b="-36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2486084" y="4074023"/>
            <a:ext cx="3544043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Random Forest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86084" y="4639418"/>
            <a:ext cx="4487913" cy="8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Robust ensemble; handles non-linearity well with built-in feature importance.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73188" y="6577308"/>
            <a:ext cx="5283546" cy="2569959"/>
            <a:chOff x="0" y="0"/>
            <a:chExt cx="7044728" cy="3426612"/>
          </a:xfrm>
        </p:grpSpPr>
        <p:sp>
          <p:nvSpPr>
            <p:cNvPr id="30" name="Freeform 30"/>
            <p:cNvSpPr/>
            <p:nvPr/>
          </p:nvSpPr>
          <p:spPr>
            <a:xfrm>
              <a:off x="25400" y="25400"/>
              <a:ext cx="6994017" cy="3375787"/>
            </a:xfrm>
            <a:custGeom>
              <a:avLst/>
              <a:gdLst/>
              <a:ahLst/>
              <a:cxnLst/>
              <a:rect l="l" t="t" r="r" b="b"/>
              <a:pathLst>
                <a:path w="6994017" h="3375787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6748272" y="0"/>
                  </a:lnTo>
                  <a:cubicBezTo>
                    <a:pt x="6884035" y="0"/>
                    <a:pt x="6994017" y="109220"/>
                    <a:pt x="6994017" y="243840"/>
                  </a:cubicBezTo>
                  <a:lnTo>
                    <a:pt x="6994017" y="3131947"/>
                  </a:lnTo>
                  <a:cubicBezTo>
                    <a:pt x="6994017" y="3266567"/>
                    <a:pt x="6884035" y="3375787"/>
                    <a:pt x="6748272" y="3375787"/>
                  </a:cubicBezTo>
                  <a:lnTo>
                    <a:pt x="245745" y="3375787"/>
                  </a:lnTo>
                  <a:cubicBezTo>
                    <a:pt x="109982" y="3375787"/>
                    <a:pt x="0" y="3266567"/>
                    <a:pt x="0" y="313194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7044817" cy="3426587"/>
            </a:xfrm>
            <a:custGeom>
              <a:avLst/>
              <a:gdLst/>
              <a:ahLst/>
              <a:cxnLst/>
              <a:rect l="l" t="t" r="r" b="b"/>
              <a:pathLst>
                <a:path w="7044817" h="3426587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278" y="0"/>
                    <a:pt x="7044817" y="120396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3157347"/>
                  </a:lnTo>
                  <a:lnTo>
                    <a:pt x="7019417" y="3157347"/>
                  </a:lnTo>
                  <a:lnTo>
                    <a:pt x="7044817" y="3157347"/>
                  </a:lnTo>
                  <a:cubicBezTo>
                    <a:pt x="7044817" y="3306191"/>
                    <a:pt x="6923278" y="3426587"/>
                    <a:pt x="6773672" y="3426587"/>
                  </a:cubicBezTo>
                  <a:lnTo>
                    <a:pt x="6773672" y="3401187"/>
                  </a:lnTo>
                  <a:lnTo>
                    <a:pt x="6773672" y="3426587"/>
                  </a:lnTo>
                  <a:lnTo>
                    <a:pt x="271145" y="3426587"/>
                  </a:lnTo>
                  <a:lnTo>
                    <a:pt x="271145" y="3401187"/>
                  </a:lnTo>
                  <a:lnTo>
                    <a:pt x="271145" y="3426587"/>
                  </a:lnTo>
                  <a:cubicBezTo>
                    <a:pt x="121539" y="3426587"/>
                    <a:pt x="0" y="3306318"/>
                    <a:pt x="0" y="315734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57347"/>
                  </a:lnTo>
                  <a:lnTo>
                    <a:pt x="25400" y="3157347"/>
                  </a:lnTo>
                  <a:lnTo>
                    <a:pt x="50800" y="3157347"/>
                  </a:lnTo>
                  <a:cubicBezTo>
                    <a:pt x="50800" y="3277743"/>
                    <a:pt x="149225" y="3375787"/>
                    <a:pt x="271145" y="3375787"/>
                  </a:cubicBezTo>
                  <a:lnTo>
                    <a:pt x="6773672" y="3375787"/>
                  </a:lnTo>
                  <a:cubicBezTo>
                    <a:pt x="6895592" y="3375787"/>
                    <a:pt x="6994017" y="3277743"/>
                    <a:pt x="6994017" y="3157347"/>
                  </a:cubicBezTo>
                  <a:lnTo>
                    <a:pt x="6994017" y="269240"/>
                  </a:lnTo>
                  <a:cubicBezTo>
                    <a:pt x="6994017" y="148844"/>
                    <a:pt x="6895592" y="50800"/>
                    <a:pt x="6773672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54138" y="6596358"/>
            <a:ext cx="152400" cy="2531859"/>
            <a:chOff x="0" y="0"/>
            <a:chExt cx="203200" cy="3375812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203200" cy="3375787"/>
            </a:xfrm>
            <a:custGeom>
              <a:avLst/>
              <a:gdLst/>
              <a:ahLst/>
              <a:cxnLst/>
              <a:rect l="l" t="t" r="r" b="b"/>
              <a:pathLst>
                <a:path w="203200" h="3375787">
                  <a:moveTo>
                    <a:pt x="0" y="0"/>
                  </a:moveTo>
                  <a:lnTo>
                    <a:pt x="203200" y="0"/>
                  </a:lnTo>
                  <a:lnTo>
                    <a:pt x="203200" y="3375787"/>
                  </a:lnTo>
                  <a:lnTo>
                    <a:pt x="0" y="3375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" b="-36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428150" y="6889404"/>
            <a:ext cx="3544043" cy="40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LightGBM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28150" y="7454798"/>
            <a:ext cx="4487913" cy="80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Gradient boosting with fast training; efficient for structured tabular data.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502156" y="6577308"/>
            <a:ext cx="5283546" cy="2569959"/>
            <a:chOff x="0" y="0"/>
            <a:chExt cx="7044728" cy="3426612"/>
          </a:xfrm>
        </p:grpSpPr>
        <p:sp>
          <p:nvSpPr>
            <p:cNvPr id="37" name="Freeform 37"/>
            <p:cNvSpPr/>
            <p:nvPr/>
          </p:nvSpPr>
          <p:spPr>
            <a:xfrm>
              <a:off x="25400" y="25400"/>
              <a:ext cx="6994017" cy="3375787"/>
            </a:xfrm>
            <a:custGeom>
              <a:avLst/>
              <a:gdLst/>
              <a:ahLst/>
              <a:cxnLst/>
              <a:rect l="l" t="t" r="r" b="b"/>
              <a:pathLst>
                <a:path w="6994017" h="3375787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6748272" y="0"/>
                  </a:lnTo>
                  <a:cubicBezTo>
                    <a:pt x="6884035" y="0"/>
                    <a:pt x="6994017" y="109220"/>
                    <a:pt x="6994017" y="243840"/>
                  </a:cubicBezTo>
                  <a:lnTo>
                    <a:pt x="6994017" y="3131947"/>
                  </a:lnTo>
                  <a:cubicBezTo>
                    <a:pt x="6994017" y="3266567"/>
                    <a:pt x="6884035" y="3375787"/>
                    <a:pt x="6748272" y="3375787"/>
                  </a:cubicBezTo>
                  <a:lnTo>
                    <a:pt x="245745" y="3375787"/>
                  </a:lnTo>
                  <a:cubicBezTo>
                    <a:pt x="109982" y="3375787"/>
                    <a:pt x="0" y="3266567"/>
                    <a:pt x="0" y="313194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7044817" cy="3426587"/>
            </a:xfrm>
            <a:custGeom>
              <a:avLst/>
              <a:gdLst/>
              <a:ahLst/>
              <a:cxnLst/>
              <a:rect l="l" t="t" r="r" b="b"/>
              <a:pathLst>
                <a:path w="7044817" h="3426587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278" y="0"/>
                    <a:pt x="7044817" y="120396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3157347"/>
                  </a:lnTo>
                  <a:lnTo>
                    <a:pt x="7019417" y="3157347"/>
                  </a:lnTo>
                  <a:lnTo>
                    <a:pt x="7044817" y="3157347"/>
                  </a:lnTo>
                  <a:cubicBezTo>
                    <a:pt x="7044817" y="3306191"/>
                    <a:pt x="6923278" y="3426587"/>
                    <a:pt x="6773672" y="3426587"/>
                  </a:cubicBezTo>
                  <a:lnTo>
                    <a:pt x="6773672" y="3401187"/>
                  </a:lnTo>
                  <a:lnTo>
                    <a:pt x="6773672" y="3426587"/>
                  </a:lnTo>
                  <a:lnTo>
                    <a:pt x="271145" y="3426587"/>
                  </a:lnTo>
                  <a:lnTo>
                    <a:pt x="271145" y="3401187"/>
                  </a:lnTo>
                  <a:lnTo>
                    <a:pt x="271145" y="3426587"/>
                  </a:lnTo>
                  <a:cubicBezTo>
                    <a:pt x="121539" y="3426587"/>
                    <a:pt x="0" y="3306318"/>
                    <a:pt x="0" y="315734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57347"/>
                  </a:lnTo>
                  <a:lnTo>
                    <a:pt x="25400" y="3157347"/>
                  </a:lnTo>
                  <a:lnTo>
                    <a:pt x="50800" y="3157347"/>
                  </a:lnTo>
                  <a:cubicBezTo>
                    <a:pt x="50800" y="3277743"/>
                    <a:pt x="149225" y="3375787"/>
                    <a:pt x="271145" y="3375787"/>
                  </a:cubicBezTo>
                  <a:lnTo>
                    <a:pt x="6773672" y="3375787"/>
                  </a:lnTo>
                  <a:cubicBezTo>
                    <a:pt x="6895592" y="3375787"/>
                    <a:pt x="6994017" y="3277743"/>
                    <a:pt x="6994017" y="3157347"/>
                  </a:cubicBezTo>
                  <a:lnTo>
                    <a:pt x="6994017" y="269240"/>
                  </a:lnTo>
                  <a:cubicBezTo>
                    <a:pt x="6994017" y="148844"/>
                    <a:pt x="6895592" y="50800"/>
                    <a:pt x="6773672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6483106" y="6596358"/>
            <a:ext cx="152400" cy="2531859"/>
            <a:chOff x="0" y="0"/>
            <a:chExt cx="203200" cy="3375812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203200" cy="3375787"/>
            </a:xfrm>
            <a:custGeom>
              <a:avLst/>
              <a:gdLst/>
              <a:ahLst/>
              <a:cxnLst/>
              <a:rect l="l" t="t" r="r" b="b"/>
              <a:pathLst>
                <a:path w="203200" h="3375787">
                  <a:moveTo>
                    <a:pt x="0" y="0"/>
                  </a:moveTo>
                  <a:lnTo>
                    <a:pt x="203200" y="0"/>
                  </a:lnTo>
                  <a:lnTo>
                    <a:pt x="203200" y="3375787"/>
                  </a:lnTo>
                  <a:lnTo>
                    <a:pt x="0" y="3375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" b="-36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6957117" y="6889404"/>
            <a:ext cx="3544043" cy="40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XGBoost </a:t>
            </a:r>
            <a:r>
              <a:rPr lang="en-US" sz="270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⭐</a:t>
            </a:r>
            <a:r>
              <a:rPr lang="en-US" sz="27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 Selected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57117" y="7454798"/>
            <a:ext cx="4487913" cy="1229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Best overall — high accuracy, regularization, and reliable predictions on agricultural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66055" y="514941"/>
            <a:ext cx="7645594" cy="588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9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Data Preprocessing &amp; ML Pipeline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322757" y="1465812"/>
            <a:ext cx="13642334" cy="5882878"/>
            <a:chOff x="0" y="0"/>
            <a:chExt cx="18189778" cy="784383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8189829" cy="7843774"/>
            </a:xfrm>
            <a:custGeom>
              <a:avLst/>
              <a:gdLst/>
              <a:ahLst/>
              <a:cxnLst/>
              <a:rect l="l" t="t" r="r" b="b"/>
              <a:pathLst>
                <a:path w="18189829" h="7843774">
                  <a:moveTo>
                    <a:pt x="0" y="0"/>
                  </a:moveTo>
                  <a:lnTo>
                    <a:pt x="18189829" y="0"/>
                  </a:lnTo>
                  <a:lnTo>
                    <a:pt x="18189829" y="7843774"/>
                  </a:lnTo>
                  <a:lnTo>
                    <a:pt x="0" y="7843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" b="-4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3240757" y="6204499"/>
            <a:ext cx="309497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Model Training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40757" y="4842710"/>
            <a:ext cx="309497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Train-Test Split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40757" y="3494675"/>
            <a:ext cx="309497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Normalization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40757" y="2132876"/>
            <a:ext cx="309497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Data Cleaning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66055" y="7468200"/>
            <a:ext cx="13755738" cy="26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2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 rigorous preprocessing pipeline ensures data quality and model reliability at every stage.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66055" y="8030023"/>
            <a:ext cx="249197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dirty="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Preprocessing</a:t>
            </a:r>
            <a:r>
              <a:rPr lang="en-US" sz="2200" dirty="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 Steps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66055" y="8471887"/>
            <a:ext cx="6634610" cy="128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Remove nulls and statistical outliers</a:t>
            </a:r>
          </a:p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Normalize continuous features (N, P, K, temperature, rainfall)</a:t>
            </a:r>
          </a:p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One-hot encode categorical crop labels</a:t>
            </a:r>
          </a:p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80/20 stratified train-test split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6565" y="8030023"/>
            <a:ext cx="249197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dirty="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Evaluation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6565" y="8471887"/>
            <a:ext cx="663461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Accuracy</a:t>
            </a: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— Overall correctness</a:t>
            </a:r>
          </a:p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Precision</a:t>
            </a: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— Prediction reliability</a:t>
            </a:r>
          </a:p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Recall</a:t>
            </a: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— Coverage of true positives</a:t>
            </a:r>
          </a:p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F1-Score</a:t>
            </a: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— Harmonic mean of precision and recall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113207" y="581320"/>
            <a:ext cx="5786142" cy="60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Results &amp; System Output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48806" y="3638790"/>
            <a:ext cx="286732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400" dirty="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What </a:t>
            </a:r>
            <a:r>
              <a:rPr lang="en-US" sz="2400" dirty="0" err="1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Harvestify</a:t>
            </a:r>
            <a:r>
              <a:rPr lang="en-US" sz="2400" dirty="0">
                <a:solidFill>
                  <a:srgbClr val="2E3C4E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 Delivers?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85677" y="4360069"/>
            <a:ext cx="4598346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The system produces fast, explainable recommendations through a clean React interface. </a:t>
            </a:r>
            <a:r>
              <a:rPr lang="en-US" sz="2000" dirty="0" err="1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XGBoost's</a:t>
            </a:r>
            <a:r>
              <a:rPr lang="en-US" sz="2000" dirty="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feature importance scores reveal which soil and climate factors drove each prediction.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75347" y="8017821"/>
            <a:ext cx="2916736" cy="30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Fast Prediction Response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75347" y="8414595"/>
            <a:ext cx="6276975" cy="2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Real-time inference via the FastAPI backend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97513" y="8017821"/>
            <a:ext cx="3157985" cy="30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Reliable Recommendations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97513" y="8414595"/>
            <a:ext cx="6277127" cy="2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Consistent outputs validated across all 22 crop classes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75347" y="8979541"/>
            <a:ext cx="2547337" cy="30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Explainable 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75347" y="9376324"/>
            <a:ext cx="6276975" cy="2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Feature importance scores show why a crop was recommended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97513" y="8979541"/>
            <a:ext cx="2547337" cy="30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84653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Intuitive Interface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97513" y="9376324"/>
            <a:ext cx="6277127" cy="2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Accessible design for farmers and agronomists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962490-B8E1-0158-6C37-7ABAEEE37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631" y="1468042"/>
            <a:ext cx="9916169" cy="62641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733550"/>
            <a:ext cx="8714480" cy="952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Future Scope &amp; 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041" y="3111398"/>
            <a:ext cx="8214274" cy="5375377"/>
            <a:chOff x="0" y="0"/>
            <a:chExt cx="10952366" cy="71671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52353" cy="7167118"/>
            </a:xfrm>
            <a:custGeom>
              <a:avLst/>
              <a:gdLst/>
              <a:ahLst/>
              <a:cxnLst/>
              <a:rect l="l" t="t" r="r" b="b"/>
              <a:pathLst>
                <a:path w="10952353" h="7167118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6894957"/>
                  </a:lnTo>
                  <a:cubicBezTo>
                    <a:pt x="10952353" y="7045325"/>
                    <a:pt x="10830433" y="7167118"/>
                    <a:pt x="10680192" y="7167118"/>
                  </a:cubicBezTo>
                  <a:lnTo>
                    <a:pt x="272161" y="7167118"/>
                  </a:lnTo>
                  <a:cubicBezTo>
                    <a:pt x="121920" y="7167118"/>
                    <a:pt x="0" y="7045325"/>
                    <a:pt x="0" y="6894957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1562" y="3366345"/>
            <a:ext cx="4286698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What's Next for Harvestify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562" y="4045144"/>
            <a:ext cx="7647232" cy="4299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30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IoT Sensor Integration</a:t>
            </a: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Live soil and environmental monitoring</a:t>
            </a:r>
          </a:p>
          <a:p>
            <a:pPr marL="530860" lvl="1" indent="-265430" algn="l">
              <a:lnSpc>
                <a:spcPts val="330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Real-Time Weather API</a:t>
            </a: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Dynamic forecasts for seasonal planning</a:t>
            </a:r>
          </a:p>
          <a:p>
            <a:pPr marL="530860" lvl="1" indent="-265430" algn="l">
              <a:lnSpc>
                <a:spcPts val="330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Fertilizer Recommendations</a:t>
            </a: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Precision nutrient guidance per crop</a:t>
            </a:r>
          </a:p>
          <a:p>
            <a:pPr marL="530860" lvl="1" indent="-265430" algn="l">
              <a:lnSpc>
                <a:spcPts val="330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Mobile Application</a:t>
            </a: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Offline-capable Android &amp; iOS app</a:t>
            </a:r>
          </a:p>
          <a:p>
            <a:pPr marL="530860" lvl="1" indent="-265430" algn="l">
              <a:lnSpc>
                <a:spcPts val="330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Multi-Language Support</a:t>
            </a: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Regional language accessibility for farmers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6" y="3366345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6" y="4045144"/>
            <a:ext cx="7805890" cy="262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Harvestify demonstrates that </a:t>
            </a:r>
            <a:r>
              <a:rPr lang="en-US" sz="2200" b="1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machine learning and agriculture belong together</a:t>
            </a:r>
            <a:r>
              <a:rPr lang="en-US" sz="22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. By combining XGBoost with a modern web stack, the system delivers accurate, explainable, and actionable crop recommendations — empowering farmers to make smarter decisions and supporting the future of </a:t>
            </a:r>
            <a:r>
              <a:rPr lang="en-US" sz="2200" b="1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smart, data-driven farming</a:t>
            </a:r>
            <a:r>
              <a:rPr lang="en-US" sz="22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99406" y="6991502"/>
            <a:ext cx="7805890" cy="1176338"/>
            <a:chOff x="0" y="0"/>
            <a:chExt cx="10407853" cy="15684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07777" cy="1568450"/>
            </a:xfrm>
            <a:custGeom>
              <a:avLst/>
              <a:gdLst/>
              <a:ahLst/>
              <a:cxnLst/>
              <a:rect l="l" t="t" r="r" b="b"/>
              <a:pathLst>
                <a:path w="10407777" h="156845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1409700"/>
                  </a:lnTo>
                  <a:cubicBezTo>
                    <a:pt x="10407777" y="1497330"/>
                    <a:pt x="10336657" y="1568450"/>
                    <a:pt x="10249027" y="1568450"/>
                  </a:cubicBezTo>
                  <a:lnTo>
                    <a:pt x="158750" y="1568450"/>
                  </a:lnTo>
                  <a:cubicBezTo>
                    <a:pt x="71120" y="1568450"/>
                    <a:pt x="0" y="1497330"/>
                    <a:pt x="0" y="1409700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782918" y="7402563"/>
            <a:ext cx="354359" cy="283521"/>
            <a:chOff x="0" y="0"/>
            <a:chExt cx="472478" cy="37802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71" r="-8" b="-65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420798" y="7269661"/>
            <a:ext cx="6600977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Harvestify — Intelligent farming, powered by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66055" y="526409"/>
            <a:ext cx="5914130" cy="67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90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Paper Published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76570" y="389782"/>
            <a:ext cx="2491978" cy="33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90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Conference Details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80194" y="780459"/>
            <a:ext cx="5210470" cy="89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Presented at an IEEE AMU Conference</a:t>
            </a:r>
          </a:p>
          <a:p>
            <a:pPr marL="361950" lvl="1" indent="-180975" algn="l">
              <a:lnSpc>
                <a:spcPts val="2000"/>
              </a:lnSpc>
              <a:buFont typeface="Arial"/>
              <a:buChar char="•"/>
            </a:pPr>
            <a:r>
              <a:rPr lang="en-US" sz="15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Research paper published successfully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77453" y="1908200"/>
            <a:ext cx="16533095" cy="7560240"/>
            <a:chOff x="0" y="0"/>
            <a:chExt cx="22044127" cy="100803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44152" cy="10080371"/>
            </a:xfrm>
            <a:custGeom>
              <a:avLst/>
              <a:gdLst/>
              <a:ahLst/>
              <a:cxnLst/>
              <a:rect l="l" t="t" r="r" b="b"/>
              <a:pathLst>
                <a:path w="22044152" h="10080371">
                  <a:moveTo>
                    <a:pt x="0" y="0"/>
                  </a:moveTo>
                  <a:lnTo>
                    <a:pt x="22044152" y="0"/>
                  </a:lnTo>
                  <a:lnTo>
                    <a:pt x="22044152" y="10080371"/>
                  </a:lnTo>
                  <a:lnTo>
                    <a:pt x="0" y="10080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8033" b="-18032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3818039"/>
            <a:ext cx="9445523" cy="1298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770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877</Words>
  <Application>Microsoft Office PowerPoint</Application>
  <PresentationFormat>Custom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Times New Roman</vt:lpstr>
      <vt:lpstr>Roboto</vt:lpstr>
      <vt:lpstr>Calibri</vt:lpstr>
      <vt:lpstr>Arimo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An-Agricultural-Crop-Recommendation-System.pptx</dc:title>
  <cp:lastModifiedBy>Ankit jaiswal</cp:lastModifiedBy>
  <cp:revision>2</cp:revision>
  <dcterms:created xsi:type="dcterms:W3CDTF">2006-08-16T00:00:00Z</dcterms:created>
  <dcterms:modified xsi:type="dcterms:W3CDTF">2026-05-06T17:23:48Z</dcterms:modified>
  <dc:identifier>DAHI6Q_s9RA</dc:identifier>
</cp:coreProperties>
</file>